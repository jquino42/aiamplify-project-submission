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Montserrat" panose="020B0604020202020204" charset="0"/>
      <p:regular r:id="rId12"/>
      <p:bold r:id="rId13"/>
      <p:italic r:id="rId14"/>
      <p:boldItalic r:id="rId15"/>
    </p:embeddedFont>
    <p:embeddedFont>
      <p:font typeface="Open Sans" panose="020B060402020202020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inones, Justin [GTSUS]" userId="S::jquino42@its.jnj.com::bef5adcf-8d4d-4f8d-b380-c3b9a9f71b2b" providerId="AD" clId="Web-{587A75DF-0FF6-DAA1-50E6-73CC85556B90}"/>
    <pc:docChg chg="modSld modNotesMaster">
      <pc:chgData name="Quinones, Justin [GTSUS]" userId="S::jquino42@its.jnj.com::bef5adcf-8d4d-4f8d-b380-c3b9a9f71b2b" providerId="AD" clId="Web-{587A75DF-0FF6-DAA1-50E6-73CC85556B90}" dt="2026-08-19T21:14:04.771" v="0"/>
      <pc:docMkLst>
        <pc:docMk/>
      </pc:docMkLst>
      <pc:sldChg chg="modSp modNotes">
        <pc:chgData name="Quinones, Justin [GTSUS]" userId="S::jquino42@its.jnj.com::bef5adcf-8d4d-4f8d-b380-c3b9a9f71b2b" providerId="AD" clId="Web-{587A75DF-0FF6-DAA1-50E6-73CC85556B90}" dt="2026-08-19T21:14:04.771" v="0"/>
        <pc:sldMkLst>
          <pc:docMk/>
          <pc:sldMk cId="0" sldId="256"/>
        </pc:sldMkLst>
        <pc:picChg chg="mod">
          <ac:chgData name="Quinones, Justin [GTSUS]" userId="S::jquino42@its.jnj.com::bef5adcf-8d4d-4f8d-b380-c3b9a9f71b2b" providerId="AD" clId="Web-{587A75DF-0FF6-DAA1-50E6-73CC85556B90}" dt="2026-08-19T21:14:04.771" v="0"/>
          <ac:picMkLst>
            <pc:docMk/>
            <pc:sldMk cId="0" sldId="256"/>
            <ac:picMk id="4" creationId="{00000000-0000-0000-0000-000000000000}"/>
          </ac:picMkLst>
        </pc:picChg>
      </pc:sldChg>
      <pc:sldChg chg="modSp modNotes">
        <pc:chgData name="Quinones, Justin [GTSUS]" userId="S::jquino42@its.jnj.com::bef5adcf-8d4d-4f8d-b380-c3b9a9f71b2b" providerId="AD" clId="Web-{587A75DF-0FF6-DAA1-50E6-73CC85556B90}" dt="2026-08-19T21:14:04.771" v="0"/>
        <pc:sldMkLst>
          <pc:docMk/>
          <pc:sldMk cId="0" sldId="257"/>
        </pc:sldMkLst>
        <pc:picChg chg="mod">
          <ac:chgData name="Quinones, Justin [GTSUS]" userId="S::jquino42@its.jnj.com::bef5adcf-8d4d-4f8d-b380-c3b9a9f71b2b" providerId="AD" clId="Web-{587A75DF-0FF6-DAA1-50E6-73CC85556B90}" dt="2026-08-19T21:14:04.771" v="0"/>
          <ac:picMkLst>
            <pc:docMk/>
            <pc:sldMk cId="0" sldId="257"/>
            <ac:picMk id="7" creationId="{00000000-0000-0000-0000-000000000000}"/>
          </ac:picMkLst>
        </pc:picChg>
      </pc:sldChg>
      <pc:sldChg chg="modSp modNotes">
        <pc:chgData name="Quinones, Justin [GTSUS]" userId="S::jquino42@its.jnj.com::bef5adcf-8d4d-4f8d-b380-c3b9a9f71b2b" providerId="AD" clId="Web-{587A75DF-0FF6-DAA1-50E6-73CC85556B90}" dt="2026-08-19T21:14:04.771" v="0"/>
        <pc:sldMkLst>
          <pc:docMk/>
          <pc:sldMk cId="0" sldId="258"/>
        </pc:sldMkLst>
        <pc:picChg chg="mod">
          <ac:chgData name="Quinones, Justin [GTSUS]" userId="S::jquino42@its.jnj.com::bef5adcf-8d4d-4f8d-b380-c3b9a9f71b2b" providerId="AD" clId="Web-{587A75DF-0FF6-DAA1-50E6-73CC85556B90}" dt="2026-08-19T21:14:04.771" v="0"/>
          <ac:picMkLst>
            <pc:docMk/>
            <pc:sldMk cId="0" sldId="258"/>
            <ac:picMk id="4" creationId="{00000000-0000-0000-0000-000000000000}"/>
          </ac:picMkLst>
        </pc:picChg>
      </pc:sldChg>
      <pc:sldChg chg="modSp modNotes">
        <pc:chgData name="Quinones, Justin [GTSUS]" userId="S::jquino42@its.jnj.com::bef5adcf-8d4d-4f8d-b380-c3b9a9f71b2b" providerId="AD" clId="Web-{587A75DF-0FF6-DAA1-50E6-73CC85556B90}" dt="2026-08-19T21:14:04.771" v="0"/>
        <pc:sldMkLst>
          <pc:docMk/>
          <pc:sldMk cId="0" sldId="259"/>
        </pc:sldMkLst>
        <pc:graphicFrameChg chg="mod">
          <ac:chgData name="Quinones, Justin [GTSUS]" userId="S::jquino42@its.jnj.com::bef5adcf-8d4d-4f8d-b380-c3b9a9f71b2b" providerId="AD" clId="Web-{587A75DF-0FF6-DAA1-50E6-73CC85556B90}" dt="2026-08-19T21:14:04.771" v="0"/>
          <ac:graphicFrameMkLst>
            <pc:docMk/>
            <pc:sldMk cId="0" sldId="259"/>
            <ac:graphicFrameMk id="2" creationId="{00000000-0000-0000-0000-000000000000}"/>
          </ac:graphicFrameMkLst>
        </pc:graphicFrameChg>
        <pc:picChg chg="mod">
          <ac:chgData name="Quinones, Justin [GTSUS]" userId="S::jquino42@its.jnj.com::bef5adcf-8d4d-4f8d-b380-c3b9a9f71b2b" providerId="AD" clId="Web-{587A75DF-0FF6-DAA1-50E6-73CC85556B90}" dt="2026-08-19T21:14:04.771" v="0"/>
          <ac:picMkLst>
            <pc:docMk/>
            <pc:sldMk cId="0" sldId="259"/>
            <ac:picMk id="4" creationId="{00000000-0000-0000-0000-000000000000}"/>
          </ac:picMkLst>
        </pc:picChg>
        <pc:picChg chg="mod">
          <ac:chgData name="Quinones, Justin [GTSUS]" userId="S::jquino42@its.jnj.com::bef5adcf-8d4d-4f8d-b380-c3b9a9f71b2b" providerId="AD" clId="Web-{587A75DF-0FF6-DAA1-50E6-73CC85556B90}" dt="2026-08-19T21:14:04.771" v="0"/>
          <ac:picMkLst>
            <pc:docMk/>
            <pc:sldMk cId="0" sldId="259"/>
            <ac:picMk id="10" creationId="{00000000-0000-0000-0000-000000000000}"/>
          </ac:picMkLst>
        </pc:picChg>
      </pc:sldChg>
      <pc:sldChg chg="modSp modNotes">
        <pc:chgData name="Quinones, Justin [GTSUS]" userId="S::jquino42@its.jnj.com::bef5adcf-8d4d-4f8d-b380-c3b9a9f71b2b" providerId="AD" clId="Web-{587A75DF-0FF6-DAA1-50E6-73CC85556B90}" dt="2026-08-19T21:14:04.771" v="0"/>
        <pc:sldMkLst>
          <pc:docMk/>
          <pc:sldMk cId="0" sldId="260"/>
        </pc:sldMkLst>
        <pc:picChg chg="mod">
          <ac:chgData name="Quinones, Justin [GTSUS]" userId="S::jquino42@its.jnj.com::bef5adcf-8d4d-4f8d-b380-c3b9a9f71b2b" providerId="AD" clId="Web-{587A75DF-0FF6-DAA1-50E6-73CC85556B90}" dt="2026-08-19T21:14:04.771" v="0"/>
          <ac:picMkLst>
            <pc:docMk/>
            <pc:sldMk cId="0" sldId="260"/>
            <ac:picMk id="12" creationId="{00000000-0000-0000-0000-000000000000}"/>
          </ac:picMkLst>
        </pc:picChg>
        <pc:picChg chg="mod">
          <ac:chgData name="Quinones, Justin [GTSUS]" userId="S::jquino42@its.jnj.com::bef5adcf-8d4d-4f8d-b380-c3b9a9f71b2b" providerId="AD" clId="Web-{587A75DF-0FF6-DAA1-50E6-73CC85556B90}" dt="2026-08-19T21:14:04.771" v="0"/>
          <ac:picMkLst>
            <pc:docMk/>
            <pc:sldMk cId="0" sldId="260"/>
            <ac:picMk id="19" creationId="{00000000-0000-0000-0000-000000000000}"/>
          </ac:picMkLst>
        </pc:picChg>
      </pc:sldChg>
      <pc:sldChg chg="modSp modNotes">
        <pc:chgData name="Quinones, Justin [GTSUS]" userId="S::jquino42@its.jnj.com::bef5adcf-8d4d-4f8d-b380-c3b9a9f71b2b" providerId="AD" clId="Web-{587A75DF-0FF6-DAA1-50E6-73CC85556B90}" dt="2026-08-19T21:14:04.771" v="0"/>
        <pc:sldMkLst>
          <pc:docMk/>
          <pc:sldMk cId="0" sldId="261"/>
        </pc:sldMkLst>
        <pc:picChg chg="mod">
          <ac:chgData name="Quinones, Justin [GTSUS]" userId="S::jquino42@its.jnj.com::bef5adcf-8d4d-4f8d-b380-c3b9a9f71b2b" providerId="AD" clId="Web-{587A75DF-0FF6-DAA1-50E6-73CC85556B90}" dt="2026-08-19T21:14:04.771" v="0"/>
          <ac:picMkLst>
            <pc:docMk/>
            <pc:sldMk cId="0" sldId="261"/>
            <ac:picMk id="6" creationId="{00000000-0000-0000-0000-000000000000}"/>
          </ac:picMkLst>
        </pc:picChg>
        <pc:picChg chg="mod">
          <ac:chgData name="Quinones, Justin [GTSUS]" userId="S::jquino42@its.jnj.com::bef5adcf-8d4d-4f8d-b380-c3b9a9f71b2b" providerId="AD" clId="Web-{587A75DF-0FF6-DAA1-50E6-73CC85556B90}" dt="2026-08-19T21:14:04.771" v="0"/>
          <ac:picMkLst>
            <pc:docMk/>
            <pc:sldMk cId="0" sldId="261"/>
            <ac:picMk id="20" creationId="{00000000-0000-0000-0000-000000000000}"/>
          </ac:picMkLst>
        </pc:picChg>
        <pc:picChg chg="mod">
          <ac:chgData name="Quinones, Justin [GTSUS]" userId="S::jquino42@its.jnj.com::bef5adcf-8d4d-4f8d-b380-c3b9a9f71b2b" providerId="AD" clId="Web-{587A75DF-0FF6-DAA1-50E6-73CC85556B90}" dt="2026-08-19T21:14:04.771" v="0"/>
          <ac:picMkLst>
            <pc:docMk/>
            <pc:sldMk cId="0" sldId="261"/>
            <ac:picMk id="24" creationId="{00000000-0000-0000-0000-000000000000}"/>
          </ac:picMkLst>
        </pc:picChg>
      </pc:sldChg>
      <pc:sldChg chg="modNotes">
        <pc:chgData name="Quinones, Justin [GTSUS]" userId="S::jquino42@its.jnj.com::bef5adcf-8d4d-4f8d-b380-c3b9a9f71b2b" providerId="AD" clId="Web-{587A75DF-0FF6-DAA1-50E6-73CC85556B90}" dt="2026-08-19T21:14:04.771" v="0"/>
        <pc:sldMkLst>
          <pc:docMk/>
          <pc:sldMk cId="0" sldId="262"/>
        </pc:sldMkLst>
      </pc:sldChg>
      <pc:sldChg chg="modSp modNotes">
        <pc:chgData name="Quinones, Justin [GTSUS]" userId="S::jquino42@its.jnj.com::bef5adcf-8d4d-4f8d-b380-c3b9a9f71b2b" providerId="AD" clId="Web-{587A75DF-0FF6-DAA1-50E6-73CC85556B90}" dt="2026-08-19T21:14:04.771" v="0"/>
        <pc:sldMkLst>
          <pc:docMk/>
          <pc:sldMk cId="0" sldId="263"/>
        </pc:sldMkLst>
        <pc:picChg chg="mod">
          <ac:chgData name="Quinones, Justin [GTSUS]" userId="S::jquino42@its.jnj.com::bef5adcf-8d4d-4f8d-b380-c3b9a9f71b2b" providerId="AD" clId="Web-{587A75DF-0FF6-DAA1-50E6-73CC85556B90}" dt="2026-08-19T21:14:04.771" v="0"/>
          <ac:picMkLst>
            <pc:docMk/>
            <pc:sldMk cId="0" sldId="263"/>
            <ac:picMk id="10" creationId="{00000000-0000-0000-0000-000000000000}"/>
          </ac:picMkLst>
        </pc:picChg>
        <pc:picChg chg="mod">
          <ac:chgData name="Quinones, Justin [GTSUS]" userId="S::jquino42@its.jnj.com::bef5adcf-8d4d-4f8d-b380-c3b9a9f71b2b" providerId="AD" clId="Web-{587A75DF-0FF6-DAA1-50E6-73CC85556B90}" dt="2026-08-19T21:14:04.771" v="0"/>
          <ac:picMkLst>
            <pc:docMk/>
            <pc:sldMk cId="0" sldId="263"/>
            <ac:picMk id="16" creationId="{00000000-0000-0000-0000-000000000000}"/>
          </ac:picMkLst>
        </pc:picChg>
      </pc:sldChg>
      <pc:sldChg chg="modNotes">
        <pc:chgData name="Quinones, Justin [GTSUS]" userId="S::jquino42@its.jnj.com::bef5adcf-8d4d-4f8d-b380-c3b9a9f71b2b" providerId="AD" clId="Web-{587A75DF-0FF6-DAA1-50E6-73CC85556B90}" dt="2026-08-19T21:14:04.771" v="0"/>
        <pc:sldMkLst>
          <pc:docMk/>
          <pc:sldMk cId="0" sldId="264"/>
        </pc:sldMkLst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On-Time Delivery Rate (%)</c:v>
                </c:pt>
              </c:strCache>
            </c:strRef>
          </c:tx>
          <c:spPr>
            <a:ln w="9525">
              <a:solidFill>
                <a:srgbClr val="1B6CA8"/>
              </a:solidFill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1B6CA8"/>
              </a:solidFill>
            </c:spPr>
            <c:extLst>
              <c:ext xmlns:c16="http://schemas.microsoft.com/office/drawing/2014/chart" uri="{C3380CC4-5D6E-409C-BE32-E72D297353CC}">
                <c16:uniqueId val="{00000001-12AA-463A-8783-35A048D9BC3C}"/>
              </c:ext>
            </c:extLst>
          </c:dPt>
          <c:dPt>
            <c:idx val="1"/>
            <c:invertIfNegative val="1"/>
            <c:bubble3D val="0"/>
            <c:spPr>
              <a:solidFill>
                <a:srgbClr val="2E8B57"/>
              </a:solidFill>
            </c:spPr>
            <c:extLst>
              <c:ext xmlns:c16="http://schemas.microsoft.com/office/drawing/2014/chart" uri="{C3380CC4-5D6E-409C-BE32-E72D297353CC}">
                <c16:uniqueId val="{00000003-12AA-463A-8783-35A048D9BC3C}"/>
              </c:ext>
            </c:extLst>
          </c:dPt>
          <c:dPt>
            <c:idx val="2"/>
            <c:invertIfNegative val="1"/>
            <c:bubble3D val="0"/>
            <c:spPr>
              <a:solidFill>
                <a:srgbClr val="D94F3D"/>
              </a:solidFill>
            </c:spPr>
            <c:extLst>
              <c:ext xmlns:c16="http://schemas.microsoft.com/office/drawing/2014/chart" uri="{C3380CC4-5D6E-409C-BE32-E72D297353CC}">
                <c16:uniqueId val="{00000005-12AA-463A-8783-35A048D9BC3C}"/>
              </c:ext>
            </c:extLst>
          </c:dPt>
          <c:cat>
            <c:strRef>
              <c:f>Sheet1!$A$2:$A$4</c:f>
              <c:strCache>
                <c:ptCount val="3"/>
                <c:pt idx="0">
                  <c:v>CARB123</c:v>
                </c:pt>
                <c:pt idx="1">
                  <c:v>BIND567</c:v>
                </c:pt>
                <c:pt idx="2">
                  <c:v>COAT890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90.25</c:v>
                </c:pt>
                <c:pt idx="1">
                  <c:v>99</c:v>
                </c:pt>
                <c:pt idx="2">
                  <c:v>84.2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2AA-463A-8783-35A048D9BC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ln w="23812">
              <a:solidFill>
                <a:srgbClr val="F0A500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CARB123</c:v>
                </c:pt>
                <c:pt idx="1">
                  <c:v>BIND567</c:v>
                </c:pt>
                <c:pt idx="2">
                  <c:v>COAT890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</c:v>
                </c:pt>
                <c:pt idx="1">
                  <c:v>95</c:v>
                </c:pt>
                <c:pt idx="2">
                  <c:v>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2AA-463A-8783-35A048D9BC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825">
                    <a:solidFill>
                      <a:srgbClr val="1C2B3A"/>
                    </a:solidFill>
                  </a:rPr>
                  <a:t>Component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000000">
                <a:alpha val="10000"/>
              </a:srgbClr>
            </a:solidFill>
          </a:ln>
        </c:spPr>
        <c:txPr>
          <a:bodyPr/>
          <a:lstStyle/>
          <a:p>
            <a:pPr>
              <a:defRPr sz="900">
                <a:solidFill>
                  <a:srgbClr val="0B2545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5"/>
          <c:min val="75"/>
        </c:scaling>
        <c:delete val="0"/>
        <c:axPos val="l"/>
        <c:majorGridlines>
          <c:spPr>
            <a:ln w="9525">
              <a:solidFill>
                <a:srgbClr val="C0D0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825">
                    <a:solidFill>
                      <a:srgbClr val="1C2B3A"/>
                    </a:solidFill>
                  </a:rPr>
                  <a:t>On-Time Delivery Rate (%)</a:t>
                </a:r>
              </a:p>
            </c:rich>
          </c:tx>
          <c:overlay val="0"/>
        </c:title>
        <c:numFmt formatCode="0&quot;%&quot;" sourceLinked="0"/>
        <c:majorTickMark val="out"/>
        <c:minorTickMark val="none"/>
        <c:tickLblPos val="nextTo"/>
        <c:spPr>
          <a:ln>
            <a:solidFill>
              <a:srgbClr val="C0D0E8"/>
            </a:solidFill>
          </a:ln>
        </c:spPr>
        <c:txPr>
          <a:bodyPr/>
          <a:lstStyle/>
          <a:p>
            <a:pPr>
              <a:defRPr sz="825">
                <a:solidFill>
                  <a:srgbClr val="1C2B3A"/>
                </a:solidFill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25">
              <a:solidFill>
                <a:srgbClr val="1C2B3A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and frame the purpose: a compliance review of three delayed components — CARB123, BIND567, COAT890.</a:t>
            </a:r>
          </a:p>
          <a:p>
            <a:r>
              <a:rPr lang="en-US"/>
              <a:t>Scope covers delivery performance against a 95% on-time target, root causes, and a corrective action plan.</a:t>
            </a:r>
          </a:p>
          <a:p>
            <a:r>
              <a:rPr lang="en-US"/>
              <a:t>Findings are drawn from the Task 3 supply chain analysis and the expanded metrics dataset.</a:t>
            </a:r>
          </a:p>
          <a:p>
            <a:r>
              <a:rPr lang="en-US"/>
              <a:t>Ask for executive sponsor decisions at the end — Phase 1 launch needs sign-off.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Headline: combined on-time rate is 88.1%, 6.9 points below the 95% target across 10 records.</a:t>
            </a:r>
          </a:p>
          <a:p>
            <a:r>
              <a:rPr lang="en-US"/>
              <a:t>COAT890 is highest priority at 84.2% with multi-supplier dependency and repeat mitigations.</a:t>
            </a:r>
          </a:p>
          <a:p>
            <a:r>
              <a:rPr lang="en-US"/>
              <a:t>CARB123 sits at 90.25% — the bigger concern is inconsistent risk classification, not the rate itself.</a:t>
            </a:r>
          </a:p>
          <a:p>
            <a:r>
              <a:rPr lang="en-US"/>
              <a:t>BIND567 hits 99% but a 64-day cycle and 26-day variance create planning exposure.</a:t>
            </a:r>
          </a:p>
          <a:p>
            <a:r>
              <a:rPr lang="en-US"/>
              <a:t>Common threads: supplier variability, forecast misalignment, inconsistent exception handling.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the table left to right — supplier concentration, rate, cycle time, variance, priority.</a:t>
            </a:r>
          </a:p>
          <a:p>
            <a:r>
              <a:rPr lang="en-US"/>
              <a:t>Emphasize each component has a distinct risk profile, so responses must be tailored.</a:t>
            </a:r>
          </a:p>
          <a:p>
            <a:r>
              <a:rPr lang="en-US"/>
              <a:t>COAT890: lowest rate and three suppliers with fragmented coordination.</a:t>
            </a:r>
          </a:p>
          <a:p>
            <a:r>
              <a:rPr lang="en-US"/>
              <a:t>BIND567: high rate masks long-cycle exposure — recovery from any disruption is slow.</a:t>
            </a:r>
          </a:p>
          <a:p>
            <a:r>
              <a:rPr lang="en-US"/>
              <a:t>CARB123: acceptable rate, weak auditability.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Chart shows performance versus the 95% target line — COAT890 is 10.8 points below.</a:t>
            </a:r>
          </a:p>
          <a:p>
            <a:r>
              <a:rPr lang="en-US"/>
              <a:t>CARB123 trails by 4.75 points; documentation inconsistency compounds the gap.</a:t>
            </a:r>
          </a:p>
          <a:p>
            <a:r>
              <a:rPr lang="en-US"/>
              <a:t>BIND567 clears the rate target but carries the highest lead-time variance at 26 days.</a:t>
            </a:r>
          </a:p>
          <a:p>
            <a:r>
              <a:rPr lang="en-US"/>
              <a:t>Repeating mitigations on COAT890 indicate an unresolved root cause, not isolated incidents.</a:t>
            </a:r>
          </a:p>
          <a:p>
            <a:r>
              <a:rPr lang="en-US"/>
              <a:t>Flag the data gap: defect and quality pass rates are excluded from scoring, understating exposure.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Three structural causes: fragmented supplier coordination, reactive risk management, long-cycle misalignment.</a:t>
            </a:r>
          </a:p>
          <a:p>
            <a:r>
              <a:rPr lang="en-US"/>
              <a:t>COAT890's three vendors differ in execution capability and replenishment models.</a:t>
            </a:r>
          </a:p>
          <a:p>
            <a:r>
              <a:rPr lang="en-US"/>
              <a:t>BIND567's safety stock does not absorb its variance, and single-record data limits trend visibility.</a:t>
            </a:r>
          </a:p>
          <a:p>
            <a:r>
              <a:rPr lang="en-US"/>
              <a:t>CARB123 lacks standardized risk criteria, so ratings vary record to record.</a:t>
            </a:r>
          </a:p>
          <a:p>
            <a:r>
              <a:rPr lang="en-US"/>
              <a:t>Cross-cutting: exception handling has no documented rationale, cost impact, or approval path.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Translate performance issues into compliance exposure across four areas.</a:t>
            </a:r>
          </a:p>
          <a:p>
            <a:r>
              <a:rPr lang="en-US"/>
              <a:t>Continuity of supply is the high-priority risk driven by COAT890's rate and supplier spread.</a:t>
            </a:r>
          </a:p>
          <a:p>
            <a:r>
              <a:rPr lang="en-US"/>
              <a:t>Traceability suffers from CARB123's inconsistent records — a management review weakness.</a:t>
            </a:r>
          </a:p>
          <a:p>
            <a:r>
              <a:rPr lang="en-US"/>
              <a:t>BIND567 requires formal monitoring despite strong on-time performance.</a:t>
            </a:r>
          </a:p>
          <a:p>
            <a:r>
              <a:rPr lang="en-US"/>
              <a:t>Stress that expedited actions must never bypass quality release controls.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Six actions map directly to the root causes just presented.</a:t>
            </a:r>
          </a:p>
          <a:p>
            <a:r>
              <a:rPr lang="en-US"/>
              <a:t>Actions 1-3 are component-specific: COAT890 recovery, CARB123 risk treatment, BIND567 buffer adjustment.</a:t>
            </a:r>
          </a:p>
          <a:p>
            <a:r>
              <a:rPr lang="en-US"/>
              <a:t>Actions 4-6 are systemic: supplier scorecards, demand planning recalibration, exception documentation.</a:t>
            </a:r>
          </a:p>
          <a:p>
            <a:r>
              <a:rPr lang="en-US"/>
              <a:t>Scorecards should track delivery, defects, variance, quality pass rate, and forecast accuracy.</a:t>
            </a:r>
          </a:p>
          <a:p>
            <a:r>
              <a:rPr lang="en-US"/>
              <a:t>Confirm owners and cadence before moving to the timeline.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Phased 90-day plan balancing immediate containment with durable governance.</a:t>
            </a:r>
          </a:p>
          <a:p>
            <a:r>
              <a:rPr lang="en-US"/>
              <a:t>Days 1-30 stabilize COAT890, confirm buffers, and open supplier alignment discussions.</a:t>
            </a:r>
          </a:p>
          <a:p>
            <a:r>
              <a:rPr lang="en-US"/>
              <a:t>Days 31-60 standardize CARB123 criteria, raise BIND567 stock, and roll out scorecards.</a:t>
            </a:r>
          </a:p>
          <a:p>
            <a:r>
              <a:rPr lang="en-US"/>
              <a:t>Days 61-90 recalibrate demand planning, run the first scorecard review, and close the quality data gap.</a:t>
            </a:r>
          </a:p>
          <a:p>
            <a:r>
              <a:rPr lang="en-US"/>
              <a:t>Ask for executive sponsor sign-off to launch Phase 1.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Sources: the Task 3 supply chain analysis report and the expanded supply chain metrics dataset.</a:t>
            </a:r>
          </a:p>
          <a:p>
            <a:r>
              <a:rPr lang="en-US"/>
              <a:t>Offer to share the underlying records and calculations on request.</a:t>
            </a:r>
          </a:p>
          <a:p>
            <a:r>
              <a:rPr lang="en-US"/>
              <a:t>Close by inviting questions and confirming next steps and owners.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hyperlink" Target="https://jnj-my.sharepoint.com/personal/jquino42_its_jnj_com/_layouts/15/Doc.aspx?sourcedoc=%7B5527ACA7-568C-49E1-990D-320DC44F575F%7D&amp;file=Task%203%20Supply%20Chain%20Analysis%20Report.docx&amp;action=default&amp;mobileredirect=tru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jnj-my.sharepoint.com/personal/jquino42_its_jnj_com/_layouts/15/Doc.aspx?sourcedoc=%7B5527ACA7-568C-49E1-990D-320DC44F575F%7D&amp;file=Task%203%20Supply%20Chain%20Analysis%20Report.docx&amp;action=default&amp;mobileredirect=true" TargetMode="Externa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jnj-my.sharepoint.com/personal/jquino42_its_jnj_com/_layouts/15/Doc.aspx?sourcedoc=%7BFE01F122-AE64-4CE0-9903-B888E66560C4%7D&amp;file=Expanded_SupplyChainMetrics.xlsx&amp;action=default&amp;mobileredirect=true" TargetMode="External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hyperlink" Target="https://jnj-my.sharepoint.com/personal/jquino42_its_jnj_com/_layouts/15/Doc.aspx?sourcedoc=%7B5527ACA7-568C-49E1-990D-320DC44F575F%7D&amp;file=Task%203%20Supply%20Chain%20Analysis%20Report.docx&amp;action=default&amp;mobileredirect=tru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10" Type="http://schemas.openxmlformats.org/officeDocument/2006/relationships/hyperlink" Target="https://jnj-my.sharepoint.com/personal/jquino42_its_jnj_com/_layouts/15/Doc.aspx?sourcedoc=%7B5527ACA7-568C-49E1-990D-320DC44F575F%7D&amp;file=Task%203%20Supply%20Chain%20Analysis%20Report.docx&amp;action=default&amp;mobileredirect=true" TargetMode="External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nj-my.sharepoint.com/personal/jquino42_its_jnj_com/_layouts/15/Doc.aspx?sourcedoc=%7B5527ACA7-568C-49E1-990D-320DC44F575F%7D&amp;file=Task%203%20Supply%20Chain%20Analysis%20Report.docx&amp;action=default&amp;mobileredirect=true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7" Type="http://schemas.openxmlformats.org/officeDocument/2006/relationships/hyperlink" Target="https://jnj-my.sharepoint.com/personal/jquino42_its_jnj_com/_layouts/15/Doc.aspx?sourcedoc=%7B5527ACA7-568C-49E1-990D-320DC44F575F%7D&amp;file=Task%203%20Supply%20Chain%20Analysis%20Report.docx&amp;action=default&amp;mobileredirect=tru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jnj-my.sharepoint.com/personal/jquino42_its_jnj_com/_layouts/15/Doc.aspx?sourcedoc=%7B5527ACA7-568C-49E1-990D-320DC44F575F%7D&amp;file=Task%203%20Supply%20Chain%20Analysis%20Report.docx&amp;action=default&amp;mobileredirect=tru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jnj-my.sharepoint.com/personal/jquino42_its_jnj_com/_layouts/15/Doc.aspx?sourcedoc=%7BFE01F122-AE64-4CE0-9903-B888E66560C4%7D&amp;file=Expanded_SupplyChainMetrics.xlsx&amp;action=default&amp;mobileredirect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915292"/>
            <a:ext cx="685800" cy="38100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74357" y="6397850"/>
            <a:ext cx="128500" cy="128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188" y="1153389"/>
            <a:ext cx="9271164" cy="21448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223" b="1" i="0">
                <a:solidFill>
                  <a:srgbClr val="FFFFFF"/>
                </a:solidFill>
                <a:latin typeface="Montserrat"/>
              </a:rPr>
              <a:t>Supply Chain Compliance:</a:t>
            </a:r>
          </a:p>
          <a:p>
            <a:pPr algn="l"/>
            <a:r>
              <a:rPr sz="4223" b="1" i="0">
                <a:solidFill>
                  <a:srgbClr val="FFFFFF"/>
                </a:solidFill>
                <a:latin typeface="Montserrat"/>
              </a:rPr>
              <a:t>Delayed Component Risk</a:t>
            </a:r>
          </a:p>
          <a:p>
            <a:pPr algn="l"/>
            <a:r>
              <a:rPr sz="4223" b="1" i="0">
                <a:solidFill>
                  <a:srgbClr val="FFFFFF"/>
                </a:solidFill>
                <a:latin typeface="Montserrat"/>
              </a:rPr>
              <a:t>Review and Remediation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188" y="3467608"/>
            <a:ext cx="10657910" cy="3333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23" b="0" i="0">
                <a:solidFill>
                  <a:srgbClr val="A8C4E0"/>
                </a:solidFill>
                <a:latin typeface="Open Sans"/>
              </a:rPr>
              <a:t>Components CARB123, BIND567, and COAT890 — Performance Analysis and Corrective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88" y="6372065"/>
            <a:ext cx="2815906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A8C4E0"/>
                </a:solidFill>
                <a:latin typeface="Open Sans"/>
              </a:rPr>
              <a:t>Prepared by Justin Quinones |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83339" y="6372065"/>
            <a:ext cx="1251166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A8C4E0"/>
                </a:solidFill>
                <a:latin typeface="Open Sans"/>
              </a:rPr>
              <a:t>Compliance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813643"/>
            <a:ext cx="571500" cy="28575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620589"/>
            <a:ext cx="2381250" cy="5008810"/>
          </a:xfrm>
          <a:prstGeom prst="roundRect">
            <a:avLst>
              <a:gd name="adj" fmla="val 48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381125" y="4039195"/>
            <a:ext cx="381000" cy="9525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990850" y="1620589"/>
            <a:ext cx="8820150" cy="13842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52775" y="1736675"/>
            <a:ext cx="361950" cy="361950"/>
          </a:xfrm>
          <a:prstGeom prst="roundRect">
            <a:avLst>
              <a:gd name="adj" fmla="val 21052"/>
            </a:avLst>
          </a:prstGeom>
          <a:solidFill>
            <a:srgbClr val="CD4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357" y="1844287"/>
            <a:ext cx="146629" cy="14662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2990850" y="3096220"/>
            <a:ext cx="8820150" cy="13842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152775" y="3212306"/>
            <a:ext cx="361950" cy="361950"/>
          </a:xfrm>
          <a:prstGeom prst="roundRect">
            <a:avLst>
              <a:gd name="adj" fmla="val 21052"/>
            </a:avLst>
          </a:prstGeom>
          <a:solidFill>
            <a:srgbClr val="9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9878" y="3309408"/>
            <a:ext cx="167576" cy="16757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990850" y="4571851"/>
            <a:ext cx="8820150" cy="1384250"/>
          </a:xfrm>
          <a:prstGeom prst="roundRect">
            <a:avLst>
              <a:gd name="adj" fmla="val 55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52775" y="4687937"/>
            <a:ext cx="361950" cy="361950"/>
          </a:xfrm>
          <a:prstGeom prst="roundRect">
            <a:avLst>
              <a:gd name="adj" fmla="val 21052"/>
            </a:avLst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49878" y="4785002"/>
            <a:ext cx="167576" cy="16757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990850" y="6085582"/>
            <a:ext cx="8820150" cy="543817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990850" y="6085582"/>
            <a:ext cx="50800" cy="543817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81268" y="6293261"/>
            <a:ext cx="159989" cy="1279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0990" y="276218"/>
            <a:ext cx="4441366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0B2545"/>
                </a:solidFill>
                <a:latin typeface="Montserrat"/>
              </a:rPr>
              <a:t>Summary of Key Issues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990" y="962149"/>
            <a:ext cx="11117778" cy="5435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73" b="1" i="0">
                <a:solidFill>
                  <a:srgbClr val="1B6CA8"/>
                </a:solidFill>
                <a:latin typeface="Open Sans"/>
              </a:rPr>
              <a:t>Three components are underperforming against a 95% on-time delivery target, creating measurable compliance and production risk.</a:t>
            </a:r>
            <a:r>
              <a:rPr sz="968" b="0" i="0">
                <a:solidFill>
                  <a:srgbClr val="637288"/>
                </a:solidFill>
                <a:latin typeface="Open Sans"/>
              </a:rPr>
              <a:t> </a:t>
            </a:r>
            <a:r>
              <a:rPr sz="968" b="0" i="0">
                <a:solidFill>
                  <a:srgbClr val="637288"/>
                </a:solidFill>
                <a:latin typeface="Open Sans"/>
                <a:hlinkClick r:id="rId7" tooltip="Task 3 Supply Chain Analysis Report.doc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02" y="2732564"/>
            <a:ext cx="1371565" cy="2857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22" b="1" i="0">
                <a:solidFill>
                  <a:srgbClr val="A8C4E0"/>
                </a:solidFill>
                <a:latin typeface="Montserrat"/>
              </a:rPr>
              <a:t>Combined On-Time Delivery 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842" y="3027832"/>
            <a:ext cx="1647486" cy="704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4011" b="1" i="0">
                <a:solidFill>
                  <a:srgbClr val="F0A500"/>
                </a:solidFill>
                <a:latin typeface="Montserrat"/>
              </a:rPr>
              <a:t>88.1%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2227" y="3703941"/>
            <a:ext cx="858716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A8C4E0"/>
                </a:solidFill>
                <a:latin typeface="Open Sans"/>
              </a:rPr>
              <a:t>10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62338" y="4155177"/>
            <a:ext cx="41819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19" b="0" i="0">
                <a:solidFill>
                  <a:srgbClr val="7E8CA1"/>
                </a:solidFill>
                <a:latin typeface="Open Sans"/>
              </a:rPr>
              <a:t>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5607" y="4320818"/>
            <a:ext cx="511807" cy="29526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88" b="1" i="0">
                <a:solidFill>
                  <a:srgbClr val="FFFFFF"/>
                </a:solidFill>
                <a:latin typeface="Montserrat"/>
              </a:rPr>
              <a:t>95%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691" y="4730383"/>
            <a:ext cx="1449787" cy="238119"/>
          </a:xfrm>
          <a:prstGeom prst="rect">
            <a:avLst/>
          </a:prstGeom>
          <a:solidFill>
            <a:srgbClr val="D94F3D"/>
          </a:solidFill>
        </p:spPr>
        <p:txBody>
          <a:bodyPr wrap="none" lIns="106677" tIns="38099" rIns="106677" bIns="38099">
            <a:spAutoFit/>
          </a:bodyPr>
          <a:lstStyle/>
          <a:p>
            <a:pPr algn="ctr"/>
            <a:r>
              <a:rPr sz="818" b="1" i="0">
                <a:solidFill>
                  <a:srgbClr val="141414"/>
                </a:solidFill>
                <a:latin typeface="Open Sans"/>
              </a:rPr>
              <a:t>−6.9 pts below target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485" y="5174177"/>
            <a:ext cx="1573966" cy="3428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1" b="0" i="0">
                <a:solidFill>
                  <a:srgbClr val="7E8CA1"/>
                </a:solidFill>
                <a:latin typeface="Open Sans"/>
              </a:rPr>
              <a:t>Source: </a:t>
            </a:r>
            <a:r>
              <a:rPr sz="911" b="0" i="0">
                <a:solidFill>
                  <a:srgbClr val="7E8CA1"/>
                </a:solidFill>
                <a:latin typeface="Open Sans"/>
                <a:hlinkClick r:id="rId7" tooltip="Task 3 Supply Chain Analysis Report.doc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3 Supply Chain Analysis Report.docx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8934" y="1736631"/>
            <a:ext cx="1784999" cy="1637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0B2545"/>
                </a:solidFill>
                <a:latin typeface="Montserrat"/>
              </a:rPr>
              <a:t>COAT890</a:t>
            </a:r>
            <a:r>
              <a:rPr sz="759" b="1" i="0">
                <a:solidFill>
                  <a:srgbClr val="BD4535"/>
                </a:solidFill>
                <a:highlight>
                  <a:srgbClr val="FDECEA"/>
                </a:highlight>
                <a:latin typeface="Montserrat"/>
              </a:rPr>
              <a:t> Highest Priority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8934" y="1913584"/>
            <a:ext cx="7323351" cy="415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>
                <a:solidFill>
                  <a:srgbClr val="1C2B3A"/>
                </a:solidFill>
                <a:latin typeface="Open Sans"/>
              </a:rPr>
              <a:t>84.2% on-time rate across 5 records; multi-supplier dependency with recurring mitigations — signals an unresolved systemic issue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8934" y="3212225"/>
            <a:ext cx="1660880" cy="1637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0B2545"/>
                </a:solidFill>
                <a:latin typeface="Montserrat"/>
              </a:rPr>
              <a:t>CARB123</a:t>
            </a:r>
            <a:r>
              <a:rPr sz="759" b="1" i="0">
                <a:solidFill>
                  <a:srgbClr val="9C6508"/>
                </a:solidFill>
                <a:highlight>
                  <a:srgbClr val="FFF4E0"/>
                </a:highlight>
                <a:latin typeface="Montserrat"/>
              </a:rPr>
              <a:t> Moderate 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28934" y="3389178"/>
            <a:ext cx="7852421" cy="209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39" b="0" i="0">
                <a:solidFill>
                  <a:srgbClr val="1C2B3A"/>
                </a:solidFill>
                <a:latin typeface="Open Sans"/>
              </a:rPr>
              <a:t>90.25% on-time across 4 records; inconsistent risk classifications and mitigation approaches reduce auditability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28934" y="4687819"/>
            <a:ext cx="1635282" cy="16370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0B2545"/>
                </a:solidFill>
                <a:latin typeface="Montserrat"/>
              </a:rPr>
              <a:t>BIND567</a:t>
            </a:r>
            <a:r>
              <a:rPr sz="759" b="1" i="0">
                <a:solidFill>
                  <a:srgbClr val="1B6CA8"/>
                </a:solidFill>
                <a:highlight>
                  <a:srgbClr val="E8EEF8"/>
                </a:highlight>
                <a:latin typeface="Montserrat"/>
              </a:rPr>
              <a:t> Planning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28934" y="4864772"/>
            <a:ext cx="7292990" cy="415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>
                <a:solidFill>
                  <a:srgbClr val="1C2B3A"/>
                </a:solidFill>
                <a:latin typeface="Open Sans"/>
              </a:rPr>
              <a:t>99% on-time but 64-day delivery timeline and 26-day lead-time variance create significant planning and disruption exposure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32634" y="6159693"/>
            <a:ext cx="7665944" cy="3786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6" b="1" i="0">
                <a:solidFill>
                  <a:srgbClr val="0B2545"/>
                </a:solidFill>
                <a:latin typeface="Open Sans"/>
              </a:rPr>
              <a:t>Cross-cutting drivers: supplier variability, forecast misalignment, and inconsistent exception handling are elevating compliance risk across all three components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04800"/>
            <a:ext cx="571500" cy="38100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4056012"/>
            <a:ext cx="3708350" cy="1093142"/>
          </a:xfrm>
          <a:prstGeom prst="roundRect">
            <a:avLst>
              <a:gd name="adj" fmla="val 69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3390" y="4205386"/>
            <a:ext cx="146629" cy="14662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241750" y="4056012"/>
            <a:ext cx="3708350" cy="1093142"/>
          </a:xfrm>
          <a:prstGeom prst="roundRect">
            <a:avLst>
              <a:gd name="adj" fmla="val 69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3565" y="4194913"/>
            <a:ext cx="167576" cy="1675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02500" y="4056012"/>
            <a:ext cx="3708350" cy="1093142"/>
          </a:xfrm>
          <a:prstGeom prst="roundRect">
            <a:avLst>
              <a:gd name="adj" fmla="val 69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67001" y="4197695"/>
            <a:ext cx="162011" cy="1620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0990" y="405695"/>
            <a:ext cx="6781332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0B2545"/>
                </a:solidFill>
                <a:latin typeface="Montserrat"/>
              </a:rPr>
              <a:t>Component Performance Snapshot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0990" y="865116"/>
            <a:ext cx="7601355" cy="2762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38" b="0" i="0">
                <a:solidFill>
                  <a:srgbClr val="1C2B3A"/>
                </a:solidFill>
                <a:latin typeface="Open Sans"/>
              </a:rPr>
              <a:t>Each component presents a distinct risk profile requiring a tailored response.</a:t>
            </a:r>
            <a:r>
              <a:rPr sz="968" b="0" i="0">
                <a:solidFill>
                  <a:srgbClr val="1B6CA8"/>
                </a:solidFill>
                <a:latin typeface="Open Sans"/>
              </a:rPr>
              <a:t> </a:t>
            </a:r>
            <a:r>
              <a:rPr sz="968" b="0" i="0">
                <a:solidFill>
                  <a:srgbClr val="1B6CA8"/>
                </a:solidFill>
                <a:latin typeface="Open Sans"/>
                <a:hlinkClick r:id="rId6" tooltip="Task 3 Supply Chain Analysis Report.doc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990" y="3737873"/>
            <a:ext cx="2957289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637288"/>
                </a:solidFill>
                <a:latin typeface="Open Sans"/>
              </a:rPr>
              <a:t>Source: </a:t>
            </a:r>
            <a:r>
              <a:rPr sz="968" b="0" i="0">
                <a:solidFill>
                  <a:srgbClr val="637288"/>
                </a:solidFill>
                <a:latin typeface="Open Sans"/>
                <a:hlinkClick r:id="rId6" tooltip="Task 3 Supply Chain Analysis Report.doc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3 Supply Chain Analysis Report.docx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865" y="4398654"/>
            <a:ext cx="2864423" cy="6208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>
                <a:solidFill>
                  <a:srgbClr val="1C2B3A"/>
                </a:solidFill>
                <a:latin typeface="Open Sans"/>
              </a:rPr>
              <a:t>Lowest delivery rate (84.2%) across 5 records; multi-supplier dependency with fragmented coordination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865" y="4170208"/>
            <a:ext cx="2082797" cy="209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1" b="1" i="0">
                <a:solidFill>
                  <a:srgbClr val="0B2545"/>
                </a:solidFill>
                <a:latin typeface="Open Sans"/>
              </a:rPr>
              <a:t>COAT890 — Highest Priority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2519" y="4398654"/>
            <a:ext cx="3019647" cy="6208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>
                <a:solidFill>
                  <a:srgbClr val="1C2B3A"/>
                </a:solidFill>
                <a:latin typeface="Open Sans"/>
              </a:rPr>
              <a:t>99% on-time masks a 64-day cycle with 26-day variance — any disruption has extended recovery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2519" y="4170208"/>
            <a:ext cx="2432534" cy="209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1" b="1" i="0">
                <a:solidFill>
                  <a:srgbClr val="0B2545"/>
                </a:solidFill>
                <a:latin typeface="Open Sans"/>
              </a:rPr>
              <a:t>BIND567 — Long-Cycle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3173" y="4398654"/>
            <a:ext cx="2582103" cy="6208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39" b="0" i="0">
                <a:solidFill>
                  <a:srgbClr val="1C2B3A"/>
                </a:solidFill>
                <a:latin typeface="Open Sans"/>
              </a:rPr>
              <a:t>90.25% on-time but inconsistent risk classifications across records reduce auditability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3173" y="4170208"/>
            <a:ext cx="2254243" cy="209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1" b="1" i="0">
                <a:solidFill>
                  <a:srgbClr val="0B2545"/>
                </a:solidFill>
                <a:latin typeface="Open Sans"/>
              </a:rPr>
              <a:t>CARB123 — Mixed Risk Profile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80990" y="1233307"/>
          <a:ext cx="11429714" cy="246847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4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4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4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4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4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13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7" b="1" i="0">
                          <a:solidFill>
                            <a:srgbClr val="FFFFFF"/>
                          </a:solidFill>
                          <a:latin typeface="Montserrat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7" b="1" i="0">
                          <a:solidFill>
                            <a:srgbClr val="FFFFFF"/>
                          </a:solidFill>
                          <a:latin typeface="Montserrat"/>
                        </a:rPr>
                        <a:t>Supplier(s)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7" b="1" i="0">
                          <a:solidFill>
                            <a:srgbClr val="FFFFFF"/>
                          </a:solidFill>
                          <a:latin typeface="Montserrat"/>
                        </a:rPr>
                        <a:t>On-Time Rate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7" b="1" i="0">
                          <a:solidFill>
                            <a:srgbClr val="FFFFFF"/>
                          </a:solidFill>
                          <a:latin typeface="Montserrat"/>
                        </a:rPr>
                        <a:t>Avg Delivery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7" b="1" i="0">
                          <a:solidFill>
                            <a:srgbClr val="FFFFFF"/>
                          </a:solidFill>
                          <a:latin typeface="Montserrat"/>
                        </a:rPr>
                        <a:t>Lead-Time Variance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7" b="1" i="0">
                          <a:solidFill>
                            <a:srgbClr val="FFFFFF"/>
                          </a:solidFill>
                          <a:latin typeface="Montserrat"/>
                        </a:rPr>
                        <a:t>Priority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3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2545"/>
                          </a:solidFill>
                          <a:latin typeface="Open Sans"/>
                        </a:rPr>
                        <a:t>CARB123</a:t>
                      </a:r>
                    </a:p>
                  </a:txBody>
                  <a:tcPr anchor="ctr">
                    <a:lnB w="9525" cmpd="sng">
                      <a:solidFill>
                        <a:srgbClr val="C0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3" b="0" i="0">
                          <a:solidFill>
                            <a:srgbClr val="1C2B3A"/>
                          </a:solidFill>
                          <a:latin typeface="Open Sans"/>
                        </a:rPr>
                        <a:t>RawMatPlus</a:t>
                      </a:r>
                    </a:p>
                  </a:txBody>
                  <a:tcPr anchor="ctr">
                    <a:lnB w="9525" cmpd="sng">
                      <a:solidFill>
                        <a:srgbClr val="C0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A36B09"/>
                          </a:solidFill>
                          <a:latin typeface="Open Sans"/>
                        </a:rPr>
                        <a:t>90.25%</a:t>
                      </a:r>
                    </a:p>
                  </a:txBody>
                  <a:tcPr anchor="ctr">
                    <a:lnB w="9525" cmpd="sng">
                      <a:solidFill>
                        <a:srgbClr val="C0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3" b="0" i="0">
                          <a:solidFill>
                            <a:srgbClr val="1C2B3A"/>
                          </a:solidFill>
                          <a:latin typeface="Open Sans"/>
                        </a:rPr>
                        <a:t>23.25 days</a:t>
                      </a:r>
                    </a:p>
                  </a:txBody>
                  <a:tcPr anchor="ctr">
                    <a:lnB w="9525" cmpd="sng">
                      <a:solidFill>
                        <a:srgbClr val="C0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3" b="0" i="0">
                          <a:solidFill>
                            <a:srgbClr val="1C2B3A"/>
                          </a:solidFill>
                          <a:latin typeface="Open Sans"/>
                        </a:rPr>
                        <a:t>10.5 days</a:t>
                      </a:r>
                    </a:p>
                  </a:txBody>
                  <a:tcPr anchor="ctr">
                    <a:lnB w="9525" cmpd="sng">
                      <a:solidFill>
                        <a:srgbClr val="C0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9C6508"/>
                          </a:solidFill>
                          <a:latin typeface="Open Sans"/>
                        </a:rPr>
                        <a:t>Medium</a:t>
                      </a:r>
                    </a:p>
                  </a:txBody>
                  <a:tcPr anchor="ctr">
                    <a:lnB w="9525" cmpd="sng">
                      <a:solidFill>
                        <a:srgbClr val="C0D0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3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2545"/>
                          </a:solidFill>
                          <a:latin typeface="Open Sans"/>
                        </a:rPr>
                        <a:t>BIND567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3" b="0" i="0">
                          <a:solidFill>
                            <a:srgbClr val="1C2B3A"/>
                          </a:solidFill>
                          <a:latin typeface="Open Sans"/>
                        </a:rPr>
                        <a:t>EcoSupply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297C4E"/>
                          </a:solidFill>
                          <a:latin typeface="Open Sans"/>
                        </a:rPr>
                        <a:t>99%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3" b="0" i="0">
                          <a:solidFill>
                            <a:srgbClr val="1C2B3A"/>
                          </a:solidFill>
                          <a:latin typeface="Open Sans"/>
                        </a:rPr>
                        <a:t>64 days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3" b="0" i="0">
                          <a:solidFill>
                            <a:srgbClr val="1C2B3A"/>
                          </a:solidFill>
                          <a:latin typeface="Open Sans"/>
                        </a:rPr>
                        <a:t>26 days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9C6508"/>
                          </a:solidFill>
                          <a:latin typeface="Open Sans"/>
                        </a:rPr>
                        <a:t>Medium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0D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D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0B2545"/>
                          </a:solidFill>
                          <a:latin typeface="Open Sans"/>
                        </a:rPr>
                        <a:t>COAT890</a:t>
                      </a:r>
                    </a:p>
                  </a:txBody>
                  <a:tcPr anchor="ctr">
                    <a:lnB w="9525" cmpd="sng">
                      <a:solidFill>
                        <a:srgbClr val="C0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3" b="0" i="0">
                          <a:solidFill>
                            <a:srgbClr val="1C2B3A"/>
                          </a:solidFill>
                          <a:latin typeface="Open Sans"/>
                        </a:rPr>
                        <a:t>GlobalChem, RawMatPlus, NextGen Pharma</a:t>
                      </a:r>
                    </a:p>
                  </a:txBody>
                  <a:tcPr anchor="ctr">
                    <a:lnB w="9525" cmpd="sng">
                      <a:solidFill>
                        <a:srgbClr val="C0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CD4B3A"/>
                          </a:solidFill>
                          <a:latin typeface="Open Sans"/>
                        </a:rPr>
                        <a:t>84.2%</a:t>
                      </a:r>
                    </a:p>
                  </a:txBody>
                  <a:tcPr anchor="ctr">
                    <a:lnB w="9525" cmpd="sng">
                      <a:solidFill>
                        <a:srgbClr val="C0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3" b="0" i="0">
                          <a:solidFill>
                            <a:srgbClr val="1C2B3A"/>
                          </a:solidFill>
                          <a:latin typeface="Open Sans"/>
                        </a:rPr>
                        <a:t>21.2 days</a:t>
                      </a:r>
                    </a:p>
                  </a:txBody>
                  <a:tcPr anchor="ctr">
                    <a:lnB w="9525" cmpd="sng">
                      <a:solidFill>
                        <a:srgbClr val="C0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53" b="0" i="0">
                          <a:solidFill>
                            <a:srgbClr val="1C2B3A"/>
                          </a:solidFill>
                          <a:latin typeface="Open Sans"/>
                        </a:rPr>
                        <a:t>8.2 days</a:t>
                      </a:r>
                    </a:p>
                  </a:txBody>
                  <a:tcPr anchor="ctr">
                    <a:lnB w="9525" cmpd="sng">
                      <a:solidFill>
                        <a:srgbClr val="C0D0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BD4535"/>
                          </a:solidFill>
                          <a:latin typeface="Open Sans"/>
                        </a:rPr>
                        <a:t>High</a:t>
                      </a:r>
                    </a:p>
                  </a:txBody>
                  <a:tcPr anchor="ctr">
                    <a:lnB w="9525" cmpd="sng">
                      <a:solidFill>
                        <a:srgbClr val="C0D0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606480" y="1636662"/>
            <a:ext cx="5280570" cy="8001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9692" y="1760797"/>
            <a:ext cx="113292" cy="1132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06480" y="2528143"/>
            <a:ext cx="5280570" cy="8001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1596" y="2644163"/>
            <a:ext cx="129477" cy="12947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606480" y="3419623"/>
            <a:ext cx="5280570" cy="8001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41596" y="3535621"/>
            <a:ext cx="129477" cy="12947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06480" y="4311104"/>
            <a:ext cx="5280570" cy="8001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1702" y="4435165"/>
            <a:ext cx="113305" cy="11330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606480" y="5202584"/>
            <a:ext cx="5280570" cy="800100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41596" y="5318537"/>
            <a:ext cx="129477" cy="1294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4792" y="266693"/>
            <a:ext cx="4344035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0B2545"/>
                </a:solidFill>
                <a:latin typeface="Montserrat"/>
              </a:rPr>
              <a:t>On-Time Delivery Rate by Component vs. 95%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792" y="6495887"/>
            <a:ext cx="2450393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1" b="0" i="0">
                <a:solidFill>
                  <a:srgbClr val="5E6D82"/>
                </a:solidFill>
                <a:latin typeface="Open Sans"/>
              </a:rPr>
              <a:t>Source: </a:t>
            </a:r>
            <a:r>
              <a:rPr sz="911" b="0" i="0">
                <a:solidFill>
                  <a:srgbClr val="5E6D82"/>
                </a:solidFill>
                <a:latin typeface="Open Sans"/>
                <a:hlinkClick r:id="rId8" tooltip="Expanded_SupplyChainMetrics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Expanded_SupplyChainMetrics.xlsx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6315" y="420428"/>
            <a:ext cx="4246109" cy="29526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88" b="1" i="0">
                <a:solidFill>
                  <a:srgbClr val="0B2545"/>
                </a:solidFill>
                <a:latin typeface="Montserrat"/>
              </a:rPr>
              <a:t>Data Insights from Excel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4889" y="792787"/>
            <a:ext cx="5109885" cy="657208"/>
          </a:xfrm>
          <a:prstGeom prst="rect">
            <a:avLst/>
          </a:prstGeom>
          <a:noFill/>
        </p:spPr>
        <p:txBody>
          <a:bodyPr wrap="square" lIns="114297" tIns="0" rIns="0" bIns="0">
            <a:spAutoFit/>
          </a:bodyPr>
          <a:lstStyle/>
          <a:p>
            <a:pPr algn="l"/>
            <a:r>
              <a:rPr sz="1139" b="0" i="1">
                <a:solidFill>
                  <a:srgbClr val="1C2B3A"/>
                </a:solidFill>
                <a:latin typeface="Open Sans"/>
              </a:rPr>
              <a:t>The Expanded Supply Chain Metrics dataset reveals recurring delivery failures and inconsistent mitigation execution across all three components.</a:t>
            </a:r>
            <a:r>
              <a:rPr sz="911" b="0" i="1">
                <a:solidFill>
                  <a:srgbClr val="1B6CA8"/>
                </a:solidFill>
                <a:latin typeface="Open Sans"/>
              </a:rPr>
              <a:t> </a:t>
            </a:r>
            <a:r>
              <a:rPr sz="911" b="0" i="1">
                <a:solidFill>
                  <a:srgbClr val="1B6CA8"/>
                </a:solidFill>
                <a:latin typeface="Open Sans"/>
                <a:hlinkClick r:id="rId8" tooltip="Expanded_SupplyChainMetrics.xls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3911" y="1729934"/>
            <a:ext cx="577289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0" b="1" i="0">
                <a:solidFill>
                  <a:srgbClr val="0B2545"/>
                </a:solidFill>
                <a:latin typeface="Open Sans"/>
              </a:rPr>
              <a:t>COAT890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3911" y="1954659"/>
            <a:ext cx="4722644" cy="375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1C2B3A"/>
                </a:solidFill>
                <a:latin typeface="Open Sans"/>
              </a:rPr>
              <a:t>falls 10.8 percentage points below the 95% target — the largest delivery gap of the three components.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3911" y="2621393"/>
            <a:ext cx="586219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0" b="1" i="0">
                <a:solidFill>
                  <a:srgbClr val="0B2545"/>
                </a:solidFill>
                <a:latin typeface="Open Sans"/>
              </a:rPr>
              <a:t>CARB123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3911" y="2846117"/>
            <a:ext cx="4713268" cy="375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1C2B3A"/>
                </a:solidFill>
                <a:latin typeface="Open Sans"/>
              </a:rPr>
              <a:t>falls 4.75 points below target; inconsistent risk classifications across records undermine auditability.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3911" y="3512851"/>
            <a:ext cx="572378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0" b="1" i="0">
                <a:solidFill>
                  <a:srgbClr val="0B2545"/>
                </a:solidFill>
                <a:latin typeface="Open Sans"/>
              </a:rPr>
              <a:t>BIND567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3911" y="3737576"/>
            <a:ext cx="4432585" cy="375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1C2B3A"/>
                </a:solidFill>
                <a:latin typeface="Open Sans"/>
              </a:rPr>
              <a:t>meets rate target but carries a 26-day lead-time variance — the highest across all components, creating planning exposure.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3911" y="4404309"/>
            <a:ext cx="1235837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0" b="1" i="0">
                <a:solidFill>
                  <a:srgbClr val="0B2545"/>
                </a:solidFill>
                <a:latin typeface="Open Sans"/>
              </a:rPr>
              <a:t>Mitigations repeat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3911" y="4629034"/>
            <a:ext cx="4547924" cy="375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1C2B3A"/>
                </a:solidFill>
                <a:latin typeface="Open Sans"/>
              </a:rPr>
              <a:t>across COAT890 records (alternate sourcing, expedited shipping, contract review) — signal of unresolved root cause.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3911" y="5295767"/>
            <a:ext cx="634140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0" b="1" i="0">
                <a:solidFill>
                  <a:srgbClr val="0B2545"/>
                </a:solidFill>
                <a:latin typeface="Open Sans"/>
              </a:rPr>
              <a:t>Data gap: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3911" y="5520492"/>
            <a:ext cx="4053232" cy="3753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2" b="0" i="0">
                <a:solidFill>
                  <a:srgbClr val="1C2B3A"/>
                </a:solidFill>
                <a:latin typeface="Open Sans"/>
              </a:rPr>
              <a:t>Defect rates and quality pass rates not in performance scoring — understating true compliance exposure.</a:t>
            </a:r>
          </a:p>
        </p:txBody>
      </p:sp>
      <p:graphicFrame>
        <p:nvGraphicFramePr>
          <p:cNvPr id="2" name="Chart 1" descr="Chart"/>
          <p:cNvGraphicFramePr>
            <a:graphicFrameLocks noGrp="1"/>
          </p:cNvGraphicFramePr>
          <p:nvPr/>
        </p:nvGraphicFramePr>
        <p:xfrm>
          <a:off x="304792" y="1673530"/>
          <a:ext cx="5791055" cy="36194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371153"/>
            <a:ext cx="571500" cy="28575"/>
          </a:xfrm>
          <a:prstGeom prst="rect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597669"/>
            <a:ext cx="3688109" cy="4137570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73285" y="1797694"/>
            <a:ext cx="426690" cy="42669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158" y="1929722"/>
            <a:ext cx="182788" cy="16245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3285" y="2346275"/>
            <a:ext cx="3303537" cy="9525"/>
          </a:xfrm>
          <a:prstGeom prst="rect">
            <a:avLst/>
          </a:prstGeom>
          <a:solidFill>
            <a:srgbClr val="D0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73285" y="2527994"/>
            <a:ext cx="66675" cy="66675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73285" y="3059757"/>
            <a:ext cx="66675" cy="66675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3285" y="3591520"/>
            <a:ext cx="66675" cy="66675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51870" y="1597669"/>
            <a:ext cx="3688109" cy="4137570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44156" y="1797694"/>
            <a:ext cx="426690" cy="42669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3372" y="1943765"/>
            <a:ext cx="167875" cy="1343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444156" y="2346275"/>
            <a:ext cx="3303537" cy="9525"/>
          </a:xfrm>
          <a:prstGeom prst="rect">
            <a:avLst/>
          </a:prstGeom>
          <a:solidFill>
            <a:srgbClr val="D0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444156" y="2527994"/>
            <a:ext cx="66675" cy="66675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44156" y="3059757"/>
            <a:ext cx="66675" cy="66675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444156" y="3591520"/>
            <a:ext cx="66675" cy="66675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22741" y="1597669"/>
            <a:ext cx="3688109" cy="4137570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15027" y="1797694"/>
            <a:ext cx="426690" cy="426690"/>
          </a:xfrm>
          <a:prstGeom prst="ellipse">
            <a:avLst/>
          </a:prstGeom>
          <a:solidFill>
            <a:srgbClr val="A632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8134" y="1930959"/>
            <a:ext cx="159911" cy="159911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315027" y="2346275"/>
            <a:ext cx="3303537" cy="9525"/>
          </a:xfrm>
          <a:prstGeom prst="rect">
            <a:avLst/>
          </a:prstGeom>
          <a:solidFill>
            <a:srgbClr val="D0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315027" y="2527994"/>
            <a:ext cx="66675" cy="66675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315027" y="3059757"/>
            <a:ext cx="66675" cy="66675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315027" y="3591520"/>
            <a:ext cx="66675" cy="66675"/>
          </a:xfrm>
          <a:prstGeom prst="ellipse">
            <a:avLst/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81000" y="5864721"/>
            <a:ext cx="11430000" cy="764678"/>
          </a:xfrm>
          <a:prstGeom prst="rect">
            <a:avLst/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1000" y="5864721"/>
            <a:ext cx="50800" cy="764678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485" y="5978722"/>
            <a:ext cx="167576" cy="1675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80990" y="276218"/>
            <a:ext cx="3861397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0B2545"/>
                </a:solidFill>
                <a:latin typeface="Montserrat"/>
              </a:rPr>
              <a:t>Root Cause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0990" y="750819"/>
            <a:ext cx="11055867" cy="5435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38" b="0" i="1">
                <a:solidFill>
                  <a:srgbClr val="1C2B3A"/>
                </a:solidFill>
                <a:latin typeface="Open Sans"/>
              </a:rPr>
              <a:t>Delivery underperformance traces to three structural causes: fragmented supplier coordination, reactive risk management, and long-cycle planning misalignment.</a:t>
            </a:r>
            <a:r>
              <a:rPr sz="968" b="0" i="1">
                <a:solidFill>
                  <a:srgbClr val="1B6CA8"/>
                </a:solidFill>
                <a:latin typeface="Open Sans"/>
              </a:rPr>
              <a:t> </a:t>
            </a:r>
            <a:r>
              <a:rPr sz="968" b="0" i="1">
                <a:solidFill>
                  <a:srgbClr val="1B6CA8"/>
                </a:solidFill>
                <a:latin typeface="Open Sans"/>
                <a:hlinkClick r:id="rId7" tooltip="Task 3 Supply Chain Analysis Report.doc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4248" y="1798542"/>
            <a:ext cx="866753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19" b="1" i="0">
                <a:solidFill>
                  <a:srgbClr val="0B2545"/>
                </a:solidFill>
                <a:latin typeface="Montserrat"/>
              </a:rPr>
              <a:t>CARB123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4248" y="2032792"/>
            <a:ext cx="739359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545F6D"/>
                </a:solidFill>
                <a:latin typeface="Open Sans"/>
              </a:rPr>
              <a:t>RawMatPlus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733" y="2470038"/>
            <a:ext cx="3111174" cy="443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6" b="0" i="0">
                <a:solidFill>
                  <a:srgbClr val="1C2B3A"/>
                </a:solidFill>
                <a:latin typeface="Open Sans"/>
              </a:rPr>
              <a:t>Inconsistent planning assumptions across records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3733" y="3001788"/>
            <a:ext cx="2859809" cy="443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6" b="0" i="0">
                <a:solidFill>
                  <a:srgbClr val="1C2B3A"/>
                </a:solidFill>
                <a:latin typeface="Open Sans"/>
              </a:rPr>
              <a:t>Varying risk ratings — no standardized assessment criteria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3733" y="3533537"/>
            <a:ext cx="2495636" cy="443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6" b="0" i="0">
                <a:solidFill>
                  <a:srgbClr val="1C2B3A"/>
                </a:solidFill>
                <a:latin typeface="Open Sans"/>
              </a:rPr>
              <a:t>Reactive mitigation rather than a documented, repeatable protocol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5022" y="1798542"/>
            <a:ext cx="871515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19" b="1" i="0">
                <a:solidFill>
                  <a:srgbClr val="0B2545"/>
                </a:solidFill>
                <a:latin typeface="Montserrat"/>
              </a:rPr>
              <a:t>BIND567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5022" y="2032792"/>
            <a:ext cx="619109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545F6D"/>
                </a:solidFill>
                <a:latin typeface="Open Sans"/>
              </a:rPr>
              <a:t>EcoSupply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4506" y="2470038"/>
            <a:ext cx="2598176" cy="443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6" b="0" i="0">
                <a:solidFill>
                  <a:srgbClr val="1C2B3A"/>
                </a:solidFill>
                <a:latin typeface="Open Sans"/>
              </a:rPr>
              <a:t>64-day long-cycle dependency with insufficient buffer alignment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4506" y="3001788"/>
            <a:ext cx="2960266" cy="443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6" b="0" i="0">
                <a:solidFill>
                  <a:srgbClr val="1C2B3A"/>
                </a:solidFill>
                <a:latin typeface="Open Sans"/>
              </a:rPr>
              <a:t>26-day lead-time variance not absorbed by current safety stock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4506" y="3533537"/>
            <a:ext cx="3100607" cy="443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6" b="0" i="0">
                <a:solidFill>
                  <a:srgbClr val="1C2B3A"/>
                </a:solidFill>
                <a:latin typeface="Open Sans"/>
              </a:rPr>
              <a:t>Single-record dataset limits trend visibility and risk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5796" y="1798542"/>
            <a:ext cx="922413" cy="2285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19" b="1" i="0">
                <a:solidFill>
                  <a:srgbClr val="0B2545"/>
                </a:solidFill>
                <a:latin typeface="Montserrat"/>
              </a:rPr>
              <a:t>COAT890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55796" y="2032792"/>
            <a:ext cx="2722295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545F6D"/>
                </a:solidFill>
                <a:latin typeface="Open Sans"/>
              </a:rPr>
              <a:t>GlobalChem · RawMatPlus · NextGen Pharma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65280" y="2470038"/>
            <a:ext cx="2974255" cy="443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6" b="0" i="0">
                <a:solidFill>
                  <a:srgbClr val="1C2B3A"/>
                </a:solidFill>
                <a:latin typeface="Open Sans"/>
              </a:rPr>
              <a:t>Fragmented multi-supplier coordination across three vendors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5280" y="3001788"/>
            <a:ext cx="2954462" cy="443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6" b="0" i="0">
                <a:solidFill>
                  <a:srgbClr val="1C2B3A"/>
                </a:solidFill>
                <a:latin typeface="Open Sans"/>
              </a:rPr>
              <a:t>Forecast misalignment and inconsistent replenishment models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65280" y="3533537"/>
            <a:ext cx="2677499" cy="4430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96" b="0" i="0">
                <a:solidFill>
                  <a:srgbClr val="1C2B3A"/>
                </a:solidFill>
                <a:latin typeface="Open Sans"/>
              </a:rPr>
              <a:t>Differing execution capability across suppliers amplifies delivery risk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030" y="5963542"/>
            <a:ext cx="1320072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0B2545"/>
                </a:solidFill>
                <a:latin typeface="Montserrat"/>
              </a:rPr>
              <a:t>Cross-Cutting Issue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8030" y="6146298"/>
            <a:ext cx="10536321" cy="3729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1C2B3A"/>
                </a:solidFill>
                <a:latin typeface="Open Sans"/>
              </a:rPr>
              <a:t>Exception handling (expedited shipments, alternate sourcing) lacks documented rationale, cost impact, or approval path — creating audit vulnerability across all three components.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948183"/>
            <a:ext cx="571500" cy="28575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372790"/>
            <a:ext cx="5650259" cy="2418754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372790"/>
            <a:ext cx="50800" cy="2418754"/>
          </a:xfrm>
          <a:prstGeom prst="rect">
            <a:avLst/>
          </a:prstGeom>
          <a:solidFill>
            <a:srgbClr val="D94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01860" y="1549896"/>
            <a:ext cx="365670" cy="365670"/>
          </a:xfrm>
          <a:prstGeom prst="ellipse">
            <a:avLst/>
          </a:prstGeom>
          <a:solidFill>
            <a:srgbClr val="8B1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293" y="1659299"/>
            <a:ext cx="146629" cy="14662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1860" y="3420367"/>
            <a:ext cx="5237112" cy="194071"/>
          </a:xfrm>
          <a:prstGeom prst="roundRect">
            <a:avLst>
              <a:gd name="adj" fmla="val 50000"/>
            </a:avLst>
          </a:prstGeom>
          <a:solidFill>
            <a:srgbClr val="9B1B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3224" y="3462399"/>
            <a:ext cx="109683" cy="10968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160740" y="1372790"/>
            <a:ext cx="5650259" cy="2418754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60740" y="1372790"/>
            <a:ext cx="50800" cy="241875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381601" y="1549896"/>
            <a:ext cx="365670" cy="36567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0409" y="1658135"/>
            <a:ext cx="167576" cy="14897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381601" y="3420367"/>
            <a:ext cx="5237112" cy="194071"/>
          </a:xfrm>
          <a:prstGeom prst="roundRect">
            <a:avLst>
              <a:gd name="adj" fmla="val 50000"/>
            </a:avLst>
          </a:prstGeom>
          <a:solidFill>
            <a:srgbClr val="7A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2819" y="3462399"/>
            <a:ext cx="109683" cy="10968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81000" y="3921025"/>
            <a:ext cx="5650259" cy="2418754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81000" y="3921025"/>
            <a:ext cx="50800" cy="2418754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01860" y="4098131"/>
            <a:ext cx="365670" cy="36567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0814" y="4196996"/>
            <a:ext cx="167568" cy="1676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01860" y="5968603"/>
            <a:ext cx="5237112" cy="194071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0089" y="6022758"/>
            <a:ext cx="95971" cy="8530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160740" y="3921025"/>
            <a:ext cx="5650259" cy="2418754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60740" y="3921025"/>
            <a:ext cx="50800" cy="241875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381601" y="4098131"/>
            <a:ext cx="365670" cy="365670"/>
          </a:xfrm>
          <a:prstGeom prst="ellipse">
            <a:avLst/>
          </a:prstGeom>
          <a:solidFill>
            <a:srgbClr val="1A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85646" y="4201774"/>
            <a:ext cx="157102" cy="157102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381601" y="5968603"/>
            <a:ext cx="5237112" cy="194071"/>
          </a:xfrm>
          <a:prstGeom prst="roundRect">
            <a:avLst>
              <a:gd name="adj" fmla="val 50000"/>
            </a:avLst>
          </a:prstGeom>
          <a:solidFill>
            <a:srgbClr val="1A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2819" y="6010571"/>
            <a:ext cx="109683" cy="10968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80990" y="304792"/>
            <a:ext cx="1567865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1" b="1" i="0">
                <a:solidFill>
                  <a:srgbClr val="1B6CA8"/>
                </a:solidFill>
                <a:latin typeface="Montserrat"/>
              </a:rPr>
              <a:t>Compliance 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0990" y="466713"/>
            <a:ext cx="3763471" cy="352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5" b="1" i="0">
                <a:solidFill>
                  <a:srgbClr val="0B2545"/>
                </a:solidFill>
                <a:latin typeface="Montserrat"/>
              </a:rPr>
              <a:t>Compliance Implications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0990" y="1068112"/>
            <a:ext cx="10476642" cy="209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39" b="0" i="1">
                <a:solidFill>
                  <a:srgbClr val="1C2B3A"/>
                </a:solidFill>
                <a:latin typeface="Open Sans"/>
              </a:rPr>
              <a:t>Delivery gaps and documentation weaknesses create measurable exposure across continuity of supply, traceability, supplier oversight, and quality release.</a:t>
            </a:r>
            <a:r>
              <a:rPr sz="854" b="0" i="1">
                <a:solidFill>
                  <a:srgbClr val="1B6CA8"/>
                </a:solidFill>
                <a:latin typeface="Open Sans"/>
              </a:rPr>
              <a:t> </a:t>
            </a:r>
            <a:r>
              <a:rPr sz="854" b="0" i="1">
                <a:solidFill>
                  <a:srgbClr val="1B6CA8"/>
                </a:solidFill>
                <a:latin typeface="Open Sans"/>
                <a:hlinkClick r:id="rId10" tooltip="Task 3 Supply Chain Analysis Report.doc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6475" y="1640789"/>
            <a:ext cx="1464878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9" b="1" i="0">
                <a:solidFill>
                  <a:srgbClr val="0B2545"/>
                </a:solidFill>
                <a:latin typeface="Montserrat"/>
              </a:rPr>
              <a:t>Continuity of Supply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1845" y="2024011"/>
            <a:ext cx="5200222" cy="3652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1C2B3A"/>
                </a:solidFill>
                <a:latin typeface="Open Sans"/>
              </a:rPr>
              <a:t>COAT890's 84.2% on-time delivery rate and multi-supplier dependency elevate production disruption risk if inventory buffers are insufficient.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96" y="3450642"/>
            <a:ext cx="726709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FFFFFF"/>
                </a:solidFill>
                <a:latin typeface="Montserrat"/>
              </a:rPr>
              <a:t>High Priority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46071" y="1640789"/>
            <a:ext cx="2310796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9" b="1" i="0">
                <a:solidFill>
                  <a:srgbClr val="0B2545"/>
                </a:solidFill>
                <a:latin typeface="Montserrat"/>
              </a:rPr>
              <a:t>Traceability and Documentation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1441" y="2024011"/>
            <a:ext cx="4824142" cy="3652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1C2B3A"/>
                </a:solidFill>
                <a:latin typeface="Open Sans"/>
              </a:rPr>
              <a:t>CARB123's inconsistent risk levels and mitigation actions across records undermine auditability and management review readiness.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8192" y="3450642"/>
            <a:ext cx="88074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FFFFFF"/>
                </a:solidFill>
                <a:latin typeface="Montserrat"/>
              </a:rPr>
              <a:t>Audit Exposure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6475" y="4188960"/>
            <a:ext cx="134314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9" b="1" i="0">
                <a:solidFill>
                  <a:srgbClr val="0B2545"/>
                </a:solidFill>
                <a:latin typeface="Montserrat"/>
              </a:rPr>
              <a:t>Supplier Oversight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1845" y="4572183"/>
            <a:ext cx="4672193" cy="3652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1C2B3A"/>
                </a:solidFill>
                <a:latin typeface="Open Sans"/>
              </a:rPr>
              <a:t>BIND567's 64-day delivery timeline and 26-day lead-time variance require formal monitoring despite its high on-time rate.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8596" y="5998813"/>
            <a:ext cx="117467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FFFFFF"/>
                </a:solidFill>
                <a:latin typeface="Montserrat"/>
              </a:rPr>
              <a:t>Requires Monitoring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6071" y="4188960"/>
            <a:ext cx="1767736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9" b="1" i="0">
                <a:solidFill>
                  <a:srgbClr val="0B2545"/>
                </a:solidFill>
                <a:latin typeface="Montserrat"/>
              </a:rPr>
              <a:t>Quality and Release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1441" y="4572183"/>
            <a:ext cx="5181321" cy="3652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1C2B3A"/>
                </a:solidFill>
                <a:latin typeface="Open Sans"/>
              </a:rPr>
              <a:t>Defect rates and quality inspection pass rates must be reviewed alongside delivery delays — expedited actions must not bypass quality controls.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8192" y="5998813"/>
            <a:ext cx="53070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FFFFFF"/>
                </a:solidFill>
                <a:latin typeface="Montserrat"/>
              </a:rPr>
              <a:t>Data Gap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0990" y="6486362"/>
            <a:ext cx="402272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3D4F63"/>
                </a:solidFill>
                <a:latin typeface="Open Sans"/>
              </a:rPr>
              <a:t>Supply Chain Compliance Review — Components CARB123, BIND567, COAT890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5275" y="6486362"/>
            <a:ext cx="2205428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9" b="0" i="0">
                <a:solidFill>
                  <a:srgbClr val="3D4F63"/>
                </a:solidFill>
                <a:latin typeface="Open Sans"/>
              </a:rPr>
              <a:t>Prepared by Justin Quinones | August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824358"/>
            <a:ext cx="533400" cy="28575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333500"/>
            <a:ext cx="5638800" cy="1588293"/>
          </a:xfrm>
          <a:prstGeom prst="roundRect">
            <a:avLst>
              <a:gd name="adj" fmla="val 47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1457325"/>
            <a:ext cx="38100" cy="1340643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95325" y="1457325"/>
            <a:ext cx="304800" cy="3048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81000" y="3028354"/>
            <a:ext cx="5638800" cy="1588293"/>
          </a:xfrm>
          <a:prstGeom prst="roundRect">
            <a:avLst>
              <a:gd name="adj" fmla="val 47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2925" y="3152179"/>
            <a:ext cx="38100" cy="1340643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325" y="3152179"/>
            <a:ext cx="304800" cy="3048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1000" y="4723209"/>
            <a:ext cx="5638800" cy="1588293"/>
          </a:xfrm>
          <a:prstGeom prst="roundRect">
            <a:avLst>
              <a:gd name="adj" fmla="val 47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2925" y="4847034"/>
            <a:ext cx="38100" cy="1340643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95325" y="4847034"/>
            <a:ext cx="304800" cy="3048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72200" y="1333500"/>
            <a:ext cx="5638800" cy="1588293"/>
          </a:xfrm>
          <a:prstGeom prst="roundRect">
            <a:avLst>
              <a:gd name="adj" fmla="val 47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34125" y="1457325"/>
            <a:ext cx="38100" cy="1340643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6525" y="1457325"/>
            <a:ext cx="304800" cy="3048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3028354"/>
            <a:ext cx="5638800" cy="1588293"/>
          </a:xfrm>
          <a:prstGeom prst="roundRect">
            <a:avLst>
              <a:gd name="adj" fmla="val 47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334125" y="3152179"/>
            <a:ext cx="38100" cy="1340643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86525" y="3152179"/>
            <a:ext cx="304800" cy="3048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72200" y="4723209"/>
            <a:ext cx="5638800" cy="1588293"/>
          </a:xfrm>
          <a:prstGeom prst="roundRect">
            <a:avLst>
              <a:gd name="adj" fmla="val 479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34125" y="4847034"/>
            <a:ext cx="38100" cy="1340643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86525" y="4847034"/>
            <a:ext cx="304800" cy="30480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0990" y="285742"/>
            <a:ext cx="3720610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0B2545"/>
                </a:solidFill>
                <a:latin typeface="Montserrat"/>
              </a:rPr>
              <a:t>Proposed Solutions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0990" y="965275"/>
            <a:ext cx="10240755" cy="2762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73" b="1" i="0">
                <a:solidFill>
                  <a:srgbClr val="1B6CA8"/>
                </a:solidFill>
                <a:latin typeface="Open Sans"/>
              </a:rPr>
              <a:t>Six targeted actions address the root causes and close the compliance gaps across all three components.</a:t>
            </a:r>
            <a:r>
              <a:rPr sz="911" b="0" i="0">
                <a:solidFill>
                  <a:srgbClr val="1B6CA8"/>
                </a:solidFill>
                <a:latin typeface="Open Sans"/>
              </a:rPr>
              <a:t> </a:t>
            </a:r>
            <a:r>
              <a:rPr sz="911" b="0" i="0">
                <a:solidFill>
                  <a:srgbClr val="1B6CA8"/>
                </a:solidFill>
                <a:latin typeface="Open Sans"/>
                <a:hlinkClick r:id="rId3" tooltip="Task 3 Supply Chain Analysis Report.doc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254" y="1525896"/>
            <a:ext cx="91440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397" y="1447763"/>
            <a:ext cx="2367349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70" b="1" i="0">
                <a:solidFill>
                  <a:srgbClr val="0B2545"/>
                </a:solidFill>
                <a:latin typeface="Montserrat"/>
              </a:rPr>
              <a:t>Prioritize COAT890 Remediation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4397" y="1646295"/>
            <a:ext cx="4649571" cy="3402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1C2B3A"/>
                </a:solidFill>
                <a:latin typeface="Open Sans"/>
              </a:rPr>
              <a:t>Establish a component-level recovery plan: align supplier commitments, confirm near-term inventory coverage, and set a 95% delivery rate target.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455" y="3220708"/>
            <a:ext cx="91440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4397" y="3142576"/>
            <a:ext cx="256126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70" b="1" i="0">
                <a:solidFill>
                  <a:srgbClr val="0B2545"/>
                </a:solidFill>
                <a:latin typeface="Montserrat"/>
              </a:rPr>
              <a:t>Formalize CARB123 Risk Treatment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4397" y="3341107"/>
            <a:ext cx="4716542" cy="3402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1C2B3A"/>
                </a:solidFill>
                <a:latin typeface="Open Sans"/>
              </a:rPr>
              <a:t>Standardize decision criteria for expedited shipping, inventory increases, contract review, and negotiated terms to reduce inconsistency and improve audit trail.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307" y="4915521"/>
            <a:ext cx="91440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4397" y="4837388"/>
            <a:ext cx="286353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70" b="1" i="0">
                <a:solidFill>
                  <a:srgbClr val="0B2545"/>
                </a:solidFill>
                <a:latin typeface="Montserrat"/>
              </a:rPr>
              <a:t>Address BIND567 Long-Cycle Exposure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4397" y="5035920"/>
            <a:ext cx="4440771" cy="3402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1C2B3A"/>
                </a:solidFill>
                <a:latin typeface="Open Sans"/>
              </a:rPr>
              <a:t>Increase safety stock or advance reorder timing to match the 64-day delivery cycle and absorb the 26-day lead-time variance.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94111" y="1525896"/>
            <a:ext cx="91440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5452" y="1447763"/>
            <a:ext cx="3084832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70" b="1" i="0">
                <a:solidFill>
                  <a:srgbClr val="0B2545"/>
                </a:solidFill>
                <a:latin typeface="Montserrat"/>
              </a:rPr>
              <a:t>Implement Recurring Supplier Scorecards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5452" y="1646295"/>
            <a:ext cx="4404606" cy="3402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1C2B3A"/>
                </a:solidFill>
                <a:latin typeface="Open Sans"/>
              </a:rPr>
              <a:t>Track on-time delivery, defect rate, lead-time variance, quality pass rate, and forecast accuracy on a defined cadence.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0213" y="3220708"/>
            <a:ext cx="91440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5452" y="3142576"/>
            <a:ext cx="2204982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70" b="1" i="0">
                <a:solidFill>
                  <a:srgbClr val="0B2545"/>
                </a:solidFill>
                <a:latin typeface="Montserrat"/>
              </a:rPr>
              <a:t>Recalibrate Demand Planning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5452" y="3341107"/>
            <a:ext cx="4617872" cy="3402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1C2B3A"/>
                </a:solidFill>
                <a:latin typeface="Open Sans"/>
              </a:rPr>
              <a:t>Use forecast accuracy and production usage rates to reset reorder points, order sizes, and safety stock levels across all three components.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97385" y="4915521"/>
            <a:ext cx="91440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5452" y="4837388"/>
            <a:ext cx="226763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70" b="1" i="0">
                <a:solidFill>
                  <a:srgbClr val="0B2545"/>
                </a:solidFill>
                <a:latin typeface="Montserrat"/>
              </a:rPr>
              <a:t>Document Exception Handling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5452" y="5035920"/>
            <a:ext cx="4549859" cy="3402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33" b="0" i="0">
                <a:solidFill>
                  <a:srgbClr val="1C2B3A"/>
                </a:solidFill>
                <a:latin typeface="Open Sans"/>
              </a:rPr>
              <a:t>Require formal rationale, quality review, cost impact assessment, and approval path for every expedited shipment or alternate sourcing decision.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0990" y="6457788"/>
            <a:ext cx="2812483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1" b="0" i="0">
                <a:solidFill>
                  <a:srgbClr val="566372"/>
                </a:solidFill>
                <a:latin typeface="Open Sans"/>
              </a:rPr>
              <a:t>Source:</a:t>
            </a:r>
            <a:r>
              <a:rPr sz="911" b="0" i="0">
                <a:solidFill>
                  <a:srgbClr val="1B6CA8"/>
                </a:solidFill>
                <a:latin typeface="Open Sans"/>
              </a:rPr>
              <a:t> </a:t>
            </a:r>
            <a:r>
              <a:rPr sz="911" b="0" i="0">
                <a:solidFill>
                  <a:srgbClr val="1B6CA8"/>
                </a:solidFill>
                <a:latin typeface="Open Sans"/>
                <a:hlinkClick r:id="rId3" tooltip="Task 3 Supply Chain Analysis Report.doc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3 Supply Chain Analysis Report.docx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40905" y="6457788"/>
            <a:ext cx="9144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1" b="0" i="0">
                <a:solidFill>
                  <a:srgbClr val="566372"/>
                </a:solidFill>
                <a:latin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1381869"/>
            <a:ext cx="533400" cy="38100"/>
          </a:xfrm>
          <a:prstGeom prst="roundRect">
            <a:avLst>
              <a:gd name="adj" fmla="val 50000"/>
            </a:avLst>
          </a:prstGeom>
          <a:solidFill>
            <a:srgbClr val="F0A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33400" y="1617910"/>
            <a:ext cx="152400" cy="152400"/>
          </a:xfrm>
          <a:prstGeom prst="ellipse">
            <a:avLst/>
          </a:prstGeom>
          <a:solidFill>
            <a:srgbClr val="A8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679823"/>
            <a:ext cx="5334000" cy="28575"/>
          </a:xfrm>
          <a:prstGeom prst="rect">
            <a:avLst/>
          </a:prstGeom>
          <a:solidFill>
            <a:srgbClr val="C0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019800" y="1617910"/>
            <a:ext cx="152400" cy="152400"/>
          </a:xfrm>
          <a:prstGeom prst="ellipse">
            <a:avLst/>
          </a:prstGeom>
          <a:solidFill>
            <a:srgbClr val="8A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72200" y="1679823"/>
            <a:ext cx="5334000" cy="28575"/>
          </a:xfrm>
          <a:prstGeom prst="rect">
            <a:avLst/>
          </a:prstGeom>
          <a:solidFill>
            <a:srgbClr val="C0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06200" y="1617910"/>
            <a:ext cx="152400" cy="152400"/>
          </a:xfrm>
          <a:prstGeom prst="ellipse">
            <a:avLst/>
          </a:prstGeom>
          <a:solidFill>
            <a:srgbClr val="1E6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81000" y="1846510"/>
            <a:ext cx="3698230" cy="4034432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73285" y="2061716"/>
            <a:ext cx="285750" cy="285750"/>
          </a:xfrm>
          <a:prstGeom prst="ellipse">
            <a:avLst/>
          </a:prstGeom>
          <a:solidFill>
            <a:srgbClr val="A8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272" y="2155541"/>
            <a:ext cx="85741" cy="9798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246810" y="1846510"/>
            <a:ext cx="3698230" cy="4034432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439096" y="2061716"/>
            <a:ext cx="285750" cy="285750"/>
          </a:xfrm>
          <a:prstGeom prst="ellipse">
            <a:avLst/>
          </a:prstGeom>
          <a:solidFill>
            <a:srgbClr val="8A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5362" y="2160245"/>
            <a:ext cx="112213" cy="8935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112621" y="1846510"/>
            <a:ext cx="3698230" cy="4034432"/>
          </a:xfrm>
          <a:prstGeom prst="roundRect">
            <a:avLst>
              <a:gd name="adj" fmla="val 20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04907" y="2061716"/>
            <a:ext cx="285750" cy="285750"/>
          </a:xfrm>
          <a:prstGeom prst="ellipse">
            <a:avLst/>
          </a:prstGeom>
          <a:solidFill>
            <a:srgbClr val="1E6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97566" y="2154530"/>
            <a:ext cx="100009" cy="10000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381000" y="5987504"/>
            <a:ext cx="11430000" cy="384720"/>
          </a:xfrm>
          <a:prstGeom prst="roundRect">
            <a:avLst>
              <a:gd name="adj" fmla="val 19806"/>
            </a:avLst>
          </a:prstGeom>
          <a:solidFill>
            <a:srgbClr val="E8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3271" y="6118676"/>
            <a:ext cx="152396" cy="12191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80990" y="285742"/>
            <a:ext cx="4064096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0B2545"/>
                </a:solidFill>
                <a:latin typeface="Montserrat"/>
              </a:rPr>
              <a:t>Implementation Plan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990" y="761534"/>
            <a:ext cx="11145459" cy="5435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73" b="1" i="0">
                <a:solidFill>
                  <a:srgbClr val="1B6CA8"/>
                </a:solidFill>
                <a:latin typeface="Open Sans"/>
              </a:rPr>
              <a:t>A phased 90-day plan prioritizes immediate risk reduction for COAT890 while building durable governance structures for all components.</a:t>
            </a:r>
            <a:r>
              <a:rPr sz="968" b="0" i="0">
                <a:solidFill>
                  <a:srgbClr val="3D4F63"/>
                </a:solidFill>
                <a:latin typeface="Open Sans"/>
              </a:rPr>
              <a:t> </a:t>
            </a:r>
            <a:r>
              <a:rPr sz="968" b="0" i="0">
                <a:solidFill>
                  <a:srgbClr val="3D4F63"/>
                </a:solidFill>
                <a:latin typeface="Open Sans"/>
                <a:hlinkClick r:id="rId7" tooltip="Task 3 Supply Chain Analysis Report.doc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212" y="2023565"/>
            <a:ext cx="1614893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1" i="0">
                <a:solidFill>
                  <a:srgbClr val="0B2545"/>
                </a:solidFill>
                <a:latin typeface="Montserrat"/>
              </a:rPr>
              <a:t>Phase 1 — Immediate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212" y="2204535"/>
            <a:ext cx="613900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4A5568"/>
                </a:solidFill>
                <a:latin typeface="Open Sans"/>
              </a:rPr>
              <a:t>Days 1–30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271" y="2476884"/>
            <a:ext cx="1494048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A83228"/>
                </a:solidFill>
                <a:latin typeface="Montserrat"/>
              </a:rPr>
              <a:t>Stabilize &amp; Contain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926" y="2023565"/>
            <a:ext cx="1609238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1" i="0">
                <a:solidFill>
                  <a:srgbClr val="0B2545"/>
                </a:solidFill>
                <a:latin typeface="Montserrat"/>
              </a:rPr>
              <a:t>Phase 2 — Near-Term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926" y="2204535"/>
            <a:ext cx="688015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4A5568"/>
                </a:solidFill>
                <a:latin typeface="Open Sans"/>
              </a:rPr>
              <a:t>Days 31–60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8985" y="2476884"/>
            <a:ext cx="1907631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8A6000"/>
                </a:solidFill>
                <a:latin typeface="Montserrat"/>
              </a:rPr>
              <a:t>Standardize &amp; 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66640" y="2023565"/>
            <a:ext cx="1571734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1" i="0">
                <a:solidFill>
                  <a:srgbClr val="0B2545"/>
                </a:solidFill>
                <a:latin typeface="Montserrat"/>
              </a:rPr>
              <a:t>Phase 3 — Structural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6640" y="2204535"/>
            <a:ext cx="688015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4A5568"/>
                </a:solidFill>
                <a:latin typeface="Open Sans"/>
              </a:rPr>
              <a:t>Days 61–90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4699" y="2476884"/>
            <a:ext cx="1359362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1E6B40"/>
                </a:solidFill>
                <a:latin typeface="Montserrat"/>
              </a:rPr>
              <a:t>Govern &amp; Sustain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045" y="6071142"/>
            <a:ext cx="8875440" cy="209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91" b="1" i="0">
                <a:solidFill>
                  <a:srgbClr val="0B2545"/>
                </a:solidFill>
                <a:latin typeface="Open Sans"/>
              </a:rPr>
              <a:t>Owners:</a:t>
            </a:r>
            <a:r>
              <a:rPr sz="1139" b="0" i="0">
                <a:solidFill>
                  <a:srgbClr val="1C2B3A"/>
                </a:solidFill>
                <a:latin typeface="Open Sans"/>
              </a:rPr>
              <a:t> Supply Chain Operations, Procurement, Quality Assurance — executive sponsor sign-off required for Phase 1 launch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07319" y="6448263"/>
            <a:ext cx="2603385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68" b="0" i="0">
                <a:solidFill>
                  <a:srgbClr val="3D4F63"/>
                </a:solidFill>
                <a:latin typeface="Open Sans"/>
              </a:rPr>
              <a:t>Prepared by Justin Quinones | August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3271" y="2749233"/>
            <a:ext cx="3313575" cy="29696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29328" indent="-129328"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  <a:buClr>
                <a:srgbClr val="9F6D00"/>
              </a:buClr>
              <a:buSzPct val="100000"/>
              <a:buFont typeface="Open Sans" charset="0"/>
              <a:buChar char="●"/>
            </a:pPr>
            <a:r>
              <a:rPr sz="1196" b="0" i="0">
                <a:solidFill>
                  <a:srgbClr val="1C2B3A"/>
                </a:solidFill>
                <a:latin typeface="Open Sans"/>
              </a:rPr>
              <a:t>Launch </a:t>
            </a:r>
            <a:r>
              <a:rPr sz="1145" b="1" i="0">
                <a:solidFill>
                  <a:srgbClr val="0B2545"/>
                </a:solidFill>
                <a:latin typeface="Open Sans"/>
              </a:rPr>
              <a:t>COAT890 recovery plan</a:t>
            </a:r>
            <a:r>
              <a:rPr sz="1196" b="0" i="0">
                <a:solidFill>
                  <a:srgbClr val="1C2B3A"/>
                </a:solidFill>
                <a:latin typeface="Open Sans"/>
              </a:rPr>
              <a:t>; confirm inventory buffers</a:t>
            </a:r>
          </a:p>
          <a:p>
            <a:pPr marL="129328" indent="-129328" algn="l">
              <a:lnSpc>
                <a:spcPts val="1615"/>
              </a:lnSpc>
              <a:spcBef>
                <a:spcPts val="419"/>
              </a:spcBef>
              <a:spcAft>
                <a:spcPts val="0"/>
              </a:spcAft>
              <a:buClr>
                <a:srgbClr val="9F6D00"/>
              </a:buClr>
              <a:buSzPct val="100000"/>
              <a:buFont typeface="Open Sans" charset="0"/>
              <a:buChar char="●"/>
            </a:pPr>
            <a:r>
              <a:rPr sz="1196" b="0" i="0">
                <a:solidFill>
                  <a:srgbClr val="1C2B3A"/>
                </a:solidFill>
                <a:latin typeface="Open Sans"/>
              </a:rPr>
              <a:t>Initiate supplier alignment meetings with GlobalChem, RawMatPlus, and NextGen Pharma</a:t>
            </a:r>
          </a:p>
          <a:p>
            <a:pPr marL="129328" indent="-129328" algn="l">
              <a:lnSpc>
                <a:spcPts val="1615"/>
              </a:lnSpc>
              <a:spcBef>
                <a:spcPts val="419"/>
              </a:spcBef>
              <a:spcAft>
                <a:spcPts val="0"/>
              </a:spcAft>
              <a:buClr>
                <a:srgbClr val="9F6D00"/>
              </a:buClr>
              <a:buSzPct val="100000"/>
              <a:buFont typeface="Open Sans" charset="0"/>
              <a:buChar char="●"/>
            </a:pPr>
            <a:r>
              <a:rPr sz="1196" b="0" i="0">
                <a:solidFill>
                  <a:srgbClr val="1C2B3A"/>
                </a:solidFill>
                <a:latin typeface="Open Sans"/>
              </a:rPr>
              <a:t>Establish </a:t>
            </a:r>
            <a:r>
              <a:rPr sz="1145" b="1" i="0">
                <a:solidFill>
                  <a:srgbClr val="0B2545"/>
                </a:solidFill>
                <a:latin typeface="Open Sans"/>
              </a:rPr>
              <a:t>exception documentation template</a:t>
            </a:r>
            <a:r>
              <a:rPr sz="1196" b="0" i="0">
                <a:solidFill>
                  <a:srgbClr val="1C2B3A"/>
                </a:solidFill>
                <a:latin typeface="Open Sans"/>
              </a:rPr>
              <a:t> and approval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8985" y="2749233"/>
            <a:ext cx="3313575" cy="29696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29328" indent="-129328"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  <a:buClr>
                <a:srgbClr val="9F6D00"/>
              </a:buClr>
              <a:buSzPct val="100000"/>
              <a:buFont typeface="Open Sans" charset="0"/>
              <a:buChar char="●"/>
            </a:pPr>
            <a:r>
              <a:rPr sz="1196" b="0" i="0">
                <a:solidFill>
                  <a:srgbClr val="1C2B3A"/>
                </a:solidFill>
                <a:latin typeface="Open Sans"/>
              </a:rPr>
              <a:t>Standardize </a:t>
            </a:r>
            <a:r>
              <a:rPr sz="1145" b="1" i="0">
                <a:solidFill>
                  <a:srgbClr val="0B2545"/>
                </a:solidFill>
                <a:latin typeface="Open Sans"/>
              </a:rPr>
              <a:t>CARB123 risk assessment</a:t>
            </a:r>
            <a:r>
              <a:rPr sz="1196" b="0" i="0">
                <a:solidFill>
                  <a:srgbClr val="1C2B3A"/>
                </a:solidFill>
                <a:latin typeface="Open Sans"/>
              </a:rPr>
              <a:t> criteria and mitigation decision framework</a:t>
            </a:r>
          </a:p>
          <a:p>
            <a:pPr marL="129328" indent="-129328" algn="l">
              <a:lnSpc>
                <a:spcPts val="1615"/>
              </a:lnSpc>
              <a:spcBef>
                <a:spcPts val="419"/>
              </a:spcBef>
              <a:spcAft>
                <a:spcPts val="0"/>
              </a:spcAft>
              <a:buClr>
                <a:srgbClr val="9F6D00"/>
              </a:buClr>
              <a:buSzPct val="100000"/>
              <a:buFont typeface="Open Sans" charset="0"/>
              <a:buChar char="●"/>
            </a:pPr>
            <a:r>
              <a:rPr sz="1196" b="0" i="0">
                <a:solidFill>
                  <a:srgbClr val="1C2B3A"/>
                </a:solidFill>
                <a:latin typeface="Open Sans"/>
              </a:rPr>
              <a:t>Increase </a:t>
            </a:r>
            <a:r>
              <a:rPr sz="1145" b="1" i="0">
                <a:solidFill>
                  <a:srgbClr val="0B2545"/>
                </a:solidFill>
                <a:latin typeface="Open Sans"/>
              </a:rPr>
              <a:t>BIND567 safety stock</a:t>
            </a:r>
            <a:r>
              <a:rPr sz="1196" b="0" i="0">
                <a:solidFill>
                  <a:srgbClr val="1C2B3A"/>
                </a:solidFill>
                <a:latin typeface="Open Sans"/>
              </a:rPr>
              <a:t> to align with 64-day delivery cycle</a:t>
            </a:r>
          </a:p>
          <a:p>
            <a:pPr marL="129328" indent="-129328" algn="l">
              <a:lnSpc>
                <a:spcPts val="1615"/>
              </a:lnSpc>
              <a:spcBef>
                <a:spcPts val="419"/>
              </a:spcBef>
              <a:spcAft>
                <a:spcPts val="0"/>
              </a:spcAft>
              <a:buClr>
                <a:srgbClr val="9F6D00"/>
              </a:buClr>
              <a:buSzPct val="100000"/>
              <a:buFont typeface="Open Sans" charset="0"/>
              <a:buChar char="●"/>
            </a:pPr>
            <a:r>
              <a:rPr sz="1196" b="0" i="0">
                <a:solidFill>
                  <a:srgbClr val="1C2B3A"/>
                </a:solidFill>
                <a:latin typeface="Open Sans"/>
              </a:rPr>
              <a:t>Issue </a:t>
            </a:r>
            <a:r>
              <a:rPr sz="1145" b="1" i="0">
                <a:solidFill>
                  <a:srgbClr val="0B2545"/>
                </a:solidFill>
                <a:latin typeface="Open Sans"/>
              </a:rPr>
              <a:t>supplier scorecard template</a:t>
            </a:r>
            <a:r>
              <a:rPr sz="1196" b="0" i="0">
                <a:solidFill>
                  <a:srgbClr val="1C2B3A"/>
                </a:solidFill>
                <a:latin typeface="Open Sans"/>
              </a:rPr>
              <a:t> and begin tracking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4699" y="2749233"/>
            <a:ext cx="3313575" cy="29696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29328" indent="-129328" algn="l">
              <a:lnSpc>
                <a:spcPts val="1615"/>
              </a:lnSpc>
              <a:spcBef>
                <a:spcPts val="0"/>
              </a:spcBef>
              <a:spcAft>
                <a:spcPts val="0"/>
              </a:spcAft>
              <a:buClr>
                <a:srgbClr val="9F6D00"/>
              </a:buClr>
              <a:buSzPct val="100000"/>
              <a:buFont typeface="Open Sans" charset="0"/>
              <a:buChar char="●"/>
            </a:pPr>
            <a:r>
              <a:rPr sz="1196" b="0" i="0">
                <a:solidFill>
                  <a:srgbClr val="1C2B3A"/>
                </a:solidFill>
                <a:latin typeface="Open Sans"/>
              </a:rPr>
              <a:t>Complete </a:t>
            </a:r>
            <a:r>
              <a:rPr sz="1145" b="1" i="0">
                <a:solidFill>
                  <a:srgbClr val="0B2545"/>
                </a:solidFill>
                <a:latin typeface="Open Sans"/>
              </a:rPr>
              <a:t>demand planning recalibration</a:t>
            </a:r>
            <a:r>
              <a:rPr sz="1196" b="0" i="0">
                <a:solidFill>
                  <a:srgbClr val="1C2B3A"/>
                </a:solidFill>
                <a:latin typeface="Open Sans"/>
              </a:rPr>
              <a:t> for all three components</a:t>
            </a:r>
          </a:p>
          <a:p>
            <a:pPr marL="129328" indent="-129328" algn="l">
              <a:lnSpc>
                <a:spcPts val="1615"/>
              </a:lnSpc>
              <a:spcBef>
                <a:spcPts val="419"/>
              </a:spcBef>
              <a:spcAft>
                <a:spcPts val="0"/>
              </a:spcAft>
              <a:buClr>
                <a:srgbClr val="9F6D00"/>
              </a:buClr>
              <a:buSzPct val="100000"/>
              <a:buFont typeface="Open Sans" charset="0"/>
              <a:buChar char="●"/>
            </a:pPr>
            <a:r>
              <a:rPr sz="1196" b="0" i="0">
                <a:solidFill>
                  <a:srgbClr val="1C2B3A"/>
                </a:solidFill>
                <a:latin typeface="Open Sans"/>
              </a:rPr>
              <a:t>Conduct first formal </a:t>
            </a:r>
            <a:r>
              <a:rPr sz="1145" b="1" i="0">
                <a:solidFill>
                  <a:srgbClr val="0B2545"/>
                </a:solidFill>
                <a:latin typeface="Open Sans"/>
              </a:rPr>
              <a:t>supplier scorecard review</a:t>
            </a:r>
            <a:r>
              <a:rPr sz="1196" b="0" i="0">
                <a:solidFill>
                  <a:srgbClr val="1C2B3A"/>
                </a:solidFill>
                <a:latin typeface="Open Sans"/>
              </a:rPr>
              <a:t>; establish recurring governance cadence</a:t>
            </a:r>
          </a:p>
          <a:p>
            <a:pPr marL="129328" indent="-129328" algn="l">
              <a:lnSpc>
                <a:spcPts val="1615"/>
              </a:lnSpc>
              <a:spcBef>
                <a:spcPts val="419"/>
              </a:spcBef>
              <a:spcAft>
                <a:spcPts val="0"/>
              </a:spcAft>
              <a:buClr>
                <a:srgbClr val="9F6D00"/>
              </a:buClr>
              <a:buSzPct val="100000"/>
              <a:buFont typeface="Open Sans" charset="0"/>
              <a:buChar char="●"/>
            </a:pPr>
            <a:r>
              <a:rPr sz="1196" b="0" i="0">
                <a:solidFill>
                  <a:srgbClr val="1C2B3A"/>
                </a:solidFill>
                <a:latin typeface="Open Sans"/>
              </a:rPr>
              <a:t>Close quality data gap — integrate </a:t>
            </a:r>
            <a:r>
              <a:rPr sz="1145" b="1" i="0">
                <a:solidFill>
                  <a:srgbClr val="0B2545"/>
                </a:solidFill>
                <a:latin typeface="Open Sans"/>
              </a:rPr>
              <a:t>defect rate and pass rate</a:t>
            </a:r>
            <a:r>
              <a:rPr sz="1196" b="0" i="0">
                <a:solidFill>
                  <a:srgbClr val="1C2B3A"/>
                </a:solidFill>
                <a:latin typeface="Open Sans"/>
              </a:rPr>
              <a:t> into performance reporting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88" y="533386"/>
            <a:ext cx="11277317" cy="447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33" b="1" i="0">
                <a:solidFill>
                  <a:srgbClr val="0B2545"/>
                </a:solidFill>
                <a:latin typeface="Montserrat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88" y="1209644"/>
            <a:ext cx="11277317" cy="11578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28600" algn="l">
              <a:lnSpc>
                <a:spcPts val="1139"/>
              </a:lnSpc>
              <a:spcAft>
                <a:spcPts val="1439"/>
              </a:spcAft>
              <a:buNone/>
            </a:pPr>
            <a:r>
              <a:rPr sz="1160" b="1" i="0">
                <a:solidFill>
                  <a:srgbClr val="0B2545"/>
                </a:solidFill>
                <a:latin typeface="Montserrat"/>
              </a:rPr>
              <a:t>[1]   </a:t>
            </a:r>
            <a:r>
              <a:rPr sz="1253" b="0" i="0">
                <a:solidFill>
                  <a:srgbClr val="1B6CA8"/>
                </a:solidFill>
                <a:latin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Task 3 Supply Chain Analysis Report.docx</a:t>
            </a:r>
          </a:p>
          <a:p>
            <a:pPr marL="274320" indent="-228600" algn="l">
              <a:lnSpc>
                <a:spcPts val="1139"/>
              </a:lnSpc>
              <a:spcAft>
                <a:spcPts val="1439"/>
              </a:spcAft>
              <a:buNone/>
            </a:pPr>
            <a:r>
              <a:rPr sz="1160" b="1" i="0">
                <a:solidFill>
                  <a:srgbClr val="0B2545"/>
                </a:solidFill>
                <a:latin typeface="Montserrat"/>
              </a:rPr>
              <a:t>[2]   </a:t>
            </a:r>
            <a:r>
              <a:rPr sz="1253" b="0" i="0">
                <a:solidFill>
                  <a:srgbClr val="1B6CA8"/>
                </a:solidFill>
                <a:latin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Expanded_SupplyChainMetrics.xlsx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3ca48ea3-8c75-4d36-b64f-70604b11fd22}" enabled="1" method="Standard" siteId="{3ac94b33-9135-4821-9502-eafda6592a35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Quinones, Justin [GTSUS]</dc:creator>
  <cp:keywords/>
  <dc:description>generated using python-pptx</dc:description>
  <cp:revision>1</cp:revision>
  <dcterms:created xsi:type="dcterms:W3CDTF">2026-08-19T21:05:43Z</dcterms:created>
  <dcterms:modified xsi:type="dcterms:W3CDTF">2026-08-19T21:14:36Z</dcterms:modified>
  <cp:category/>
</cp:coreProperties>
</file>